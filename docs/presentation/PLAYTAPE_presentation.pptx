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Deeper detail: OfflineAudioContext was constructing a full node graph (biquad filters, convolvers, compressors, delay lines) per track regardless of whether that effect's toggle was on. Building those nodes and connecting them has real CPU cost even when their effect is a no-op. The fix conditionally omits a node from the graph entirely when its control is bypassed, rather than building it and setting a bypass gain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bug hid through a full round of testing because the tests called the underlying JS functions directly (e.g. openDrums()) to verify behavior, rather than clicking the actual on-screen button — so the exception that killed the rest of the script's wiring never fired during verification. It was only caught when the human user clicked a modal's close button in real use and reported it. Textbook gap between 'the code runs' and 'the feature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C1F"/>
        </a:solidFill>
      </p:bgPr>
    </p:bg>
    <p:spTree>
      <p:nvGrpSpPr>
        <p:cNvPr id="1" name=""/>
        <p:cNvGrpSpPr/>
        <p:nvPr/>
      </p:nvGrpSpPr>
      <p:grpSpPr>
        <a:xfrm>
          <a:off x="0" y="0"/>
          <a:ext cx="0" cy="0"/>
          <a:chOff x="0" y="0"/>
          <a:chExt cx="0" cy="0"/>
        </a:xfrm>
      </p:grpSpPr>
      <p:sp>
        <p:nvSpPr>
          <p:cNvPr id="2" name="Shape 0"/>
          <p:cNvSpPr/>
          <p:nvPr/>
        </p:nvSpPr>
        <p:spPr>
          <a:xfrm>
            <a:off x="685800" y="676656"/>
            <a:ext cx="128016" cy="128016"/>
          </a:xfrm>
          <a:prstGeom prst="ellipse">
            <a:avLst/>
          </a:prstGeom>
          <a:solidFill>
            <a:srgbClr val="FFB020"/>
          </a:solidFill>
          <a:ln/>
        </p:spPr>
      </p:sp>
      <p:sp>
        <p:nvSpPr>
          <p:cNvPr id="3" name="Text 1"/>
          <p:cNvSpPr/>
          <p:nvPr/>
        </p:nvSpPr>
        <p:spPr>
          <a:xfrm>
            <a:off x="923544" y="640080"/>
            <a:ext cx="5486400" cy="219456"/>
          </a:xfrm>
          <a:prstGeom prst="rect">
            <a:avLst/>
          </a:prstGeom>
          <a:noFill/>
          <a:ln/>
        </p:spPr>
        <p:txBody>
          <a:bodyPr wrap="square" lIns="0" tIns="0" rIns="0" bIns="0" rtlCol="0" anchor="ctr"/>
          <a:lstStyle/>
          <a:p>
            <a:pPr indent="0" marL="0">
              <a:buNone/>
            </a:pPr>
            <a:r>
              <a:rPr lang="en-US" sz="1100" b="1" spc="300" kern="0" dirty="0">
                <a:solidFill>
                  <a:srgbClr val="9A9BA0"/>
                </a:solidFill>
                <a:latin typeface="Calibri" pitchFamily="34" charset="0"/>
                <a:ea typeface="Calibri" pitchFamily="34" charset="-122"/>
                <a:cs typeface="Calibri" pitchFamily="34" charset="-120"/>
              </a:rPr>
              <a:t>PLAYTAPE · OPEN SOURCE</a:t>
            </a:r>
            <a:endParaRPr lang="en-US" sz="1100" dirty="0"/>
          </a:p>
        </p:txBody>
      </p:sp>
      <p:sp>
        <p:nvSpPr>
          <p:cNvPr id="4" name="Text 2"/>
          <p:cNvSpPr/>
          <p:nvPr/>
        </p:nvSpPr>
        <p:spPr>
          <a:xfrm>
            <a:off x="640080" y="1234440"/>
            <a:ext cx="7863840" cy="23774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libri" pitchFamily="34" charset="0"/>
                <a:ea typeface="Calibri" pitchFamily="34" charset="-122"/>
                <a:cs typeface="Calibri" pitchFamily="34" charset="-120"/>
              </a:rPr>
              <a:t xml:space="preserve">I </a:t>
            </a:r>
            <a:pPr indent="0" marL="0">
              <a:lnSpc>
                <a:spcPct val="105000"/>
              </a:lnSpc>
              <a:buNone/>
            </a:pPr>
            <a:r>
              <a:rPr lang="en-US" sz="4000" b="1" dirty="0">
                <a:solidFill>
                  <a:srgbClr val="FF5C1F"/>
                </a:solidFill>
                <a:latin typeface="Calibri" pitchFamily="34" charset="0"/>
                <a:ea typeface="Calibri" pitchFamily="34" charset="-122"/>
                <a:cs typeface="Calibri" pitchFamily="34" charset="-120"/>
              </a:rPr>
              <a:t>vibecoded</a:t>
            </a:r>
            <a:pPr indent="0" marL="0">
              <a:lnSpc>
                <a:spcPct val="105000"/>
              </a:lnSpc>
              <a:buNone/>
            </a:pPr>
            <a:r>
              <a:rPr lang="en-US" sz="4000" b="1" dirty="0">
                <a:solidFill>
                  <a:srgbClr val="FFFFFF"/>
                </a:solidFill>
                <a:latin typeface="Calibri" pitchFamily="34" charset="0"/>
                <a:ea typeface="Calibri" pitchFamily="34" charset="-122"/>
                <a:cs typeface="Calibri" pitchFamily="34" charset="-120"/>
              </a:rPr>
              <a:t xml:space="preserve"> an open-source</a:t>
            </a:r>
            <a:endParaRPr lang="en-US" sz="4000" dirty="0"/>
          </a:p>
          <a:p>
            <a:pPr indent="0" marL="0">
              <a:lnSpc>
                <a:spcPct val="105000"/>
              </a:lnSpc>
              <a:buNone/>
            </a:pPr>
            <a:r>
              <a:rPr lang="en-US" sz="4000" b="1" dirty="0">
                <a:solidFill>
                  <a:srgbClr val="FFFFFF"/>
                </a:solidFill>
                <a:latin typeface="Calibri" pitchFamily="34" charset="0"/>
                <a:ea typeface="Calibri" pitchFamily="34" charset="-122"/>
                <a:cs typeface="Calibri" pitchFamily="34" charset="-120"/>
              </a:rPr>
              <a:t>DAW for kids</a:t>
            </a:r>
            <a:endParaRPr lang="en-US" sz="4000" dirty="0"/>
          </a:p>
        </p:txBody>
      </p:sp>
      <p:sp>
        <p:nvSpPr>
          <p:cNvPr id="5" name="Text 3"/>
          <p:cNvSpPr/>
          <p:nvPr/>
        </p:nvSpPr>
        <p:spPr>
          <a:xfrm>
            <a:off x="658368" y="3429000"/>
            <a:ext cx="7498080" cy="731520"/>
          </a:xfrm>
          <a:prstGeom prst="rect">
            <a:avLst/>
          </a:prstGeom>
          <a:noFill/>
          <a:ln/>
        </p:spPr>
        <p:txBody>
          <a:bodyPr wrap="square" lIns="0" tIns="0" rIns="0" bIns="0" rtlCol="0" anchor="ctr"/>
          <a:lstStyle/>
          <a:p>
            <a:pPr indent="0" marL="0">
              <a:lnSpc>
                <a:spcPct val="115000"/>
              </a:lnSpc>
              <a:buNone/>
            </a:pPr>
            <a:r>
              <a:rPr lang="en-US" sz="1500" dirty="0">
                <a:solidFill>
                  <a:srgbClr val="9A9BA0"/>
                </a:solidFill>
                <a:latin typeface="Calibri" pitchFamily="34" charset="0"/>
                <a:ea typeface="Calibri" pitchFamily="34" charset="-122"/>
                <a:cs typeface="Calibri" pitchFamily="34" charset="-120"/>
              </a:rPr>
              <a:t>(and a real one for myself, first). Built almost entirely by talking to an AI coding agent — not by typing the code.</a:t>
            </a:r>
            <a:endParaRPr lang="en-US" sz="1500" dirty="0"/>
          </a:p>
        </p:txBody>
      </p:sp>
      <p:sp>
        <p:nvSpPr>
          <p:cNvPr id="6" name="Text 4"/>
          <p:cNvSpPr/>
          <p:nvPr/>
        </p:nvSpPr>
        <p:spPr>
          <a:xfrm>
            <a:off x="658368" y="5760720"/>
            <a:ext cx="8229600" cy="685800"/>
          </a:xfrm>
          <a:prstGeom prst="rect">
            <a:avLst/>
          </a:prstGeom>
          <a:noFill/>
          <a:ln/>
        </p:spPr>
        <p:txBody>
          <a:bodyPr wrap="square" lIns="0" tIns="0" rIns="0" bIns="0" rtlCol="0" anchor="ctr"/>
          <a:lstStyle/>
          <a:p>
            <a:pPr indent="0" marL="0">
              <a:lnSpc>
                <a:spcPct val="130000"/>
              </a:lnSpc>
              <a:buNone/>
            </a:pPr>
            <a:r>
              <a:rPr lang="en-US" sz="1200" b="1" dirty="0">
                <a:solidFill>
                  <a:srgbClr val="FFFFFF"/>
                </a:solidFill>
                <a:latin typeface="Courier New" pitchFamily="34" charset="0"/>
                <a:ea typeface="Courier New" pitchFamily="34" charset="-122"/>
                <a:cs typeface="Courier New" pitchFamily="34" charset="-120"/>
              </a:rPr>
              <a:t>Konstantinos Skopas · Koncave Design Studio</a:t>
            </a:r>
            <a:endParaRPr lang="en-US" sz="1200" dirty="0"/>
          </a:p>
          <a:p>
            <a:pPr indent="0" marL="0">
              <a:lnSpc>
                <a:spcPct val="130000"/>
              </a:lnSpc>
              <a:buNone/>
            </a:pPr>
            <a:r>
              <a:rPr lang="en-US" sz="1200" dirty="0">
                <a:solidFill>
                  <a:srgbClr val="9A9BA0"/>
                </a:solidFill>
                <a:latin typeface="Courier New" pitchFamily="34" charset="0"/>
                <a:ea typeface="Courier New" pitchFamily="34" charset="-122"/>
                <a:cs typeface="Courier New" pitchFamily="34" charset="-120"/>
              </a:rPr>
              <a:t>MIT Licensed   ·   github.com/&lt;you&gt;/tape-daw</a:t>
            </a:r>
            <a:endParaRPr lang="en-US" sz="1200" dirty="0"/>
          </a:p>
        </p:txBody>
      </p:sp>
      <p:sp>
        <p:nvSpPr>
          <p:cNvPr id="7" name="Shape 5"/>
          <p:cNvSpPr/>
          <p:nvPr/>
        </p:nvSpPr>
        <p:spPr>
          <a:xfrm rot="13500000">
            <a:off x="9094494" y="4064065"/>
            <a:ext cx="106299" cy="368503"/>
          </a:xfrm>
          <a:prstGeom prst="rect">
            <a:avLst/>
          </a:prstGeom>
          <a:solidFill>
            <a:srgbClr val="FF5C1F"/>
          </a:solidFill>
          <a:ln/>
        </p:spPr>
      </p:sp>
      <p:sp>
        <p:nvSpPr>
          <p:cNvPr id="8" name="Shape 6"/>
          <p:cNvSpPr/>
          <p:nvPr/>
        </p:nvSpPr>
        <p:spPr>
          <a:xfrm rot="14058621">
            <a:off x="8945559" y="3888725"/>
            <a:ext cx="106299" cy="368503"/>
          </a:xfrm>
          <a:prstGeom prst="rect">
            <a:avLst/>
          </a:prstGeom>
          <a:solidFill>
            <a:srgbClr val="FF5C1F"/>
          </a:solidFill>
          <a:ln/>
        </p:spPr>
      </p:sp>
      <p:sp>
        <p:nvSpPr>
          <p:cNvPr id="9" name="Shape 7"/>
          <p:cNvSpPr/>
          <p:nvPr/>
        </p:nvSpPr>
        <p:spPr>
          <a:xfrm rot="14617241">
            <a:off x="8826953" y="3691600"/>
            <a:ext cx="106299" cy="368503"/>
          </a:xfrm>
          <a:prstGeom prst="rect">
            <a:avLst/>
          </a:prstGeom>
          <a:solidFill>
            <a:srgbClr val="FF5C1F"/>
          </a:solidFill>
          <a:ln/>
        </p:spPr>
      </p:sp>
      <p:sp>
        <p:nvSpPr>
          <p:cNvPr id="10" name="Shape 8"/>
          <p:cNvSpPr/>
          <p:nvPr/>
        </p:nvSpPr>
        <p:spPr>
          <a:xfrm rot="15175862">
            <a:off x="8741800" y="3477884"/>
            <a:ext cx="106299" cy="368503"/>
          </a:xfrm>
          <a:prstGeom prst="rect">
            <a:avLst/>
          </a:prstGeom>
          <a:solidFill>
            <a:srgbClr val="FF5C1F"/>
          </a:solidFill>
          <a:ln/>
        </p:spPr>
      </p:sp>
      <p:sp>
        <p:nvSpPr>
          <p:cNvPr id="11" name="Shape 9"/>
          <p:cNvSpPr/>
          <p:nvPr/>
        </p:nvSpPr>
        <p:spPr>
          <a:xfrm rot="15734483">
            <a:off x="8692345" y="3253207"/>
            <a:ext cx="106299" cy="368503"/>
          </a:xfrm>
          <a:prstGeom prst="rect">
            <a:avLst/>
          </a:prstGeom>
          <a:solidFill>
            <a:srgbClr val="FF5C1F"/>
          </a:solidFill>
          <a:ln/>
        </p:spPr>
      </p:sp>
      <p:sp>
        <p:nvSpPr>
          <p:cNvPr id="12" name="Shape 10"/>
          <p:cNvSpPr/>
          <p:nvPr/>
        </p:nvSpPr>
        <p:spPr>
          <a:xfrm rot="16293103">
            <a:off x="8679890" y="3023488"/>
            <a:ext cx="106299" cy="368503"/>
          </a:xfrm>
          <a:prstGeom prst="rect">
            <a:avLst/>
          </a:prstGeom>
          <a:solidFill>
            <a:srgbClr val="FF5C1F"/>
          </a:solidFill>
          <a:ln/>
        </p:spPr>
      </p:sp>
      <p:sp>
        <p:nvSpPr>
          <p:cNvPr id="13" name="Shape 11"/>
          <p:cNvSpPr/>
          <p:nvPr/>
        </p:nvSpPr>
        <p:spPr>
          <a:xfrm rot="16851724">
            <a:off x="8704764" y="2794781"/>
            <a:ext cx="106299" cy="368503"/>
          </a:xfrm>
          <a:prstGeom prst="rect">
            <a:avLst/>
          </a:prstGeom>
          <a:solidFill>
            <a:srgbClr val="FF5C1F"/>
          </a:solidFill>
          <a:ln/>
        </p:spPr>
      </p:sp>
      <p:sp>
        <p:nvSpPr>
          <p:cNvPr id="14" name="Shape 12"/>
          <p:cNvSpPr/>
          <p:nvPr/>
        </p:nvSpPr>
        <p:spPr>
          <a:xfrm rot="17410345">
            <a:off x="8766310" y="2573111"/>
            <a:ext cx="106299" cy="368503"/>
          </a:xfrm>
          <a:prstGeom prst="rect">
            <a:avLst/>
          </a:prstGeom>
          <a:solidFill>
            <a:srgbClr val="FF5C1F"/>
          </a:solidFill>
          <a:ln/>
        </p:spPr>
      </p:sp>
      <p:sp>
        <p:nvSpPr>
          <p:cNvPr id="15" name="Shape 13"/>
          <p:cNvSpPr/>
          <p:nvPr/>
        </p:nvSpPr>
        <p:spPr>
          <a:xfrm rot="17968966">
            <a:off x="8862908" y="2364318"/>
            <a:ext cx="106299" cy="368503"/>
          </a:xfrm>
          <a:prstGeom prst="rect">
            <a:avLst/>
          </a:prstGeom>
          <a:solidFill>
            <a:srgbClr val="FF5C1F"/>
          </a:solidFill>
          <a:ln/>
        </p:spPr>
      </p:sp>
      <p:sp>
        <p:nvSpPr>
          <p:cNvPr id="16" name="Shape 14"/>
          <p:cNvSpPr/>
          <p:nvPr/>
        </p:nvSpPr>
        <p:spPr>
          <a:xfrm rot="18527586">
            <a:off x="8992012" y="2173903"/>
            <a:ext cx="106299" cy="368503"/>
          </a:xfrm>
          <a:prstGeom prst="rect">
            <a:avLst/>
          </a:prstGeom>
          <a:solidFill>
            <a:srgbClr val="FF5C1F"/>
          </a:solidFill>
          <a:ln/>
        </p:spPr>
      </p:sp>
      <p:sp>
        <p:nvSpPr>
          <p:cNvPr id="17" name="Shape 15"/>
          <p:cNvSpPr/>
          <p:nvPr/>
        </p:nvSpPr>
        <p:spPr>
          <a:xfrm rot="19086207">
            <a:off x="9150222" y="2006884"/>
            <a:ext cx="106299" cy="368503"/>
          </a:xfrm>
          <a:prstGeom prst="rect">
            <a:avLst/>
          </a:prstGeom>
          <a:solidFill>
            <a:srgbClr val="FF5C1F"/>
          </a:solidFill>
          <a:ln/>
        </p:spPr>
      </p:sp>
      <p:sp>
        <p:nvSpPr>
          <p:cNvPr id="18" name="Shape 16"/>
          <p:cNvSpPr/>
          <p:nvPr/>
        </p:nvSpPr>
        <p:spPr>
          <a:xfrm rot="19644828">
            <a:off x="9333367" y="1867660"/>
            <a:ext cx="106299" cy="368503"/>
          </a:xfrm>
          <a:prstGeom prst="rect">
            <a:avLst/>
          </a:prstGeom>
          <a:solidFill>
            <a:srgbClr val="FF5C1F"/>
          </a:solidFill>
          <a:ln/>
        </p:spPr>
      </p:sp>
      <p:sp>
        <p:nvSpPr>
          <p:cNvPr id="19" name="Shape 17"/>
          <p:cNvSpPr/>
          <p:nvPr/>
        </p:nvSpPr>
        <p:spPr>
          <a:xfrm rot="20203448">
            <a:off x="9536624" y="1759900"/>
            <a:ext cx="106299" cy="368503"/>
          </a:xfrm>
          <a:prstGeom prst="rect">
            <a:avLst/>
          </a:prstGeom>
          <a:solidFill>
            <a:srgbClr val="FF5C1F"/>
          </a:solidFill>
          <a:ln/>
        </p:spPr>
      </p:sp>
      <p:sp>
        <p:nvSpPr>
          <p:cNvPr id="20" name="Shape 18"/>
          <p:cNvSpPr/>
          <p:nvPr/>
        </p:nvSpPr>
        <p:spPr>
          <a:xfrm rot="20762069">
            <a:off x="9754637" y="1686443"/>
            <a:ext cx="106299" cy="368503"/>
          </a:xfrm>
          <a:prstGeom prst="rect">
            <a:avLst/>
          </a:prstGeom>
          <a:solidFill>
            <a:srgbClr val="FF5C1F"/>
          </a:solidFill>
          <a:ln/>
        </p:spPr>
      </p:sp>
      <p:sp>
        <p:nvSpPr>
          <p:cNvPr id="21" name="Shape 19"/>
          <p:cNvSpPr/>
          <p:nvPr/>
        </p:nvSpPr>
        <p:spPr>
          <a:xfrm rot="21320690">
            <a:off x="9981663" y="1649224"/>
            <a:ext cx="106299" cy="368503"/>
          </a:xfrm>
          <a:prstGeom prst="rect">
            <a:avLst/>
          </a:prstGeom>
          <a:solidFill>
            <a:srgbClr val="FF5C1F"/>
          </a:solidFill>
          <a:ln/>
        </p:spPr>
      </p:sp>
      <p:sp>
        <p:nvSpPr>
          <p:cNvPr id="22" name="Shape 20"/>
          <p:cNvSpPr/>
          <p:nvPr/>
        </p:nvSpPr>
        <p:spPr>
          <a:xfrm rot="279310">
            <a:off x="10211718" y="1649224"/>
            <a:ext cx="106299" cy="368503"/>
          </a:xfrm>
          <a:prstGeom prst="rect">
            <a:avLst/>
          </a:prstGeom>
          <a:solidFill>
            <a:srgbClr val="FF5C1F"/>
          </a:solidFill>
          <a:ln/>
        </p:spPr>
      </p:sp>
      <p:sp>
        <p:nvSpPr>
          <p:cNvPr id="23" name="Shape 21"/>
          <p:cNvSpPr/>
          <p:nvPr/>
        </p:nvSpPr>
        <p:spPr>
          <a:xfrm rot="837931">
            <a:off x="10438744" y="1686443"/>
            <a:ext cx="106299" cy="368503"/>
          </a:xfrm>
          <a:prstGeom prst="rect">
            <a:avLst/>
          </a:prstGeom>
          <a:solidFill>
            <a:srgbClr val="FF5C1F"/>
          </a:solidFill>
          <a:ln/>
        </p:spPr>
      </p:sp>
      <p:sp>
        <p:nvSpPr>
          <p:cNvPr id="24" name="Shape 22"/>
          <p:cNvSpPr/>
          <p:nvPr/>
        </p:nvSpPr>
        <p:spPr>
          <a:xfrm rot="1396552">
            <a:off x="10656757" y="1759900"/>
            <a:ext cx="106299" cy="368503"/>
          </a:xfrm>
          <a:prstGeom prst="rect">
            <a:avLst/>
          </a:prstGeom>
          <a:solidFill>
            <a:srgbClr val="FF5C1F"/>
          </a:solidFill>
          <a:ln/>
        </p:spPr>
      </p:sp>
      <p:sp>
        <p:nvSpPr>
          <p:cNvPr id="25" name="Shape 23"/>
          <p:cNvSpPr/>
          <p:nvPr/>
        </p:nvSpPr>
        <p:spPr>
          <a:xfrm rot="1955172">
            <a:off x="10860014" y="1867660"/>
            <a:ext cx="106299" cy="368503"/>
          </a:xfrm>
          <a:prstGeom prst="rect">
            <a:avLst/>
          </a:prstGeom>
          <a:solidFill>
            <a:srgbClr val="FF5C1F"/>
          </a:solidFill>
          <a:ln/>
        </p:spPr>
      </p:sp>
      <p:sp>
        <p:nvSpPr>
          <p:cNvPr id="26" name="Shape 24"/>
          <p:cNvSpPr/>
          <p:nvPr/>
        </p:nvSpPr>
        <p:spPr>
          <a:xfrm rot="2513793">
            <a:off x="11043159" y="2006884"/>
            <a:ext cx="106299" cy="368503"/>
          </a:xfrm>
          <a:prstGeom prst="rect">
            <a:avLst/>
          </a:prstGeom>
          <a:solidFill>
            <a:srgbClr val="FF5C1F"/>
          </a:solidFill>
          <a:ln/>
        </p:spPr>
      </p:sp>
      <p:sp>
        <p:nvSpPr>
          <p:cNvPr id="27" name="Shape 25"/>
          <p:cNvSpPr/>
          <p:nvPr/>
        </p:nvSpPr>
        <p:spPr>
          <a:xfrm rot="3072414">
            <a:off x="11201369" y="2173903"/>
            <a:ext cx="106299" cy="368503"/>
          </a:xfrm>
          <a:prstGeom prst="rect">
            <a:avLst/>
          </a:prstGeom>
          <a:solidFill>
            <a:srgbClr val="B9BBB6"/>
          </a:solidFill>
          <a:ln/>
        </p:spPr>
      </p:sp>
      <p:sp>
        <p:nvSpPr>
          <p:cNvPr id="28" name="Shape 26"/>
          <p:cNvSpPr/>
          <p:nvPr/>
        </p:nvSpPr>
        <p:spPr>
          <a:xfrm rot="3631034">
            <a:off x="11330473" y="2364318"/>
            <a:ext cx="106299" cy="368503"/>
          </a:xfrm>
          <a:prstGeom prst="rect">
            <a:avLst/>
          </a:prstGeom>
          <a:solidFill>
            <a:srgbClr val="B9BBB6"/>
          </a:solidFill>
          <a:ln/>
        </p:spPr>
      </p:sp>
      <p:sp>
        <p:nvSpPr>
          <p:cNvPr id="29" name="Shape 27"/>
          <p:cNvSpPr/>
          <p:nvPr/>
        </p:nvSpPr>
        <p:spPr>
          <a:xfrm rot="4189655">
            <a:off x="11427071" y="2573111"/>
            <a:ext cx="106299" cy="368503"/>
          </a:xfrm>
          <a:prstGeom prst="rect">
            <a:avLst/>
          </a:prstGeom>
          <a:solidFill>
            <a:srgbClr val="B9BBB6"/>
          </a:solidFill>
          <a:ln/>
        </p:spPr>
      </p:sp>
      <p:sp>
        <p:nvSpPr>
          <p:cNvPr id="30" name="Shape 28"/>
          <p:cNvSpPr/>
          <p:nvPr/>
        </p:nvSpPr>
        <p:spPr>
          <a:xfrm rot="4748276">
            <a:off x="11488617" y="2794781"/>
            <a:ext cx="106299" cy="368503"/>
          </a:xfrm>
          <a:prstGeom prst="rect">
            <a:avLst/>
          </a:prstGeom>
          <a:solidFill>
            <a:srgbClr val="B9BBB6"/>
          </a:solidFill>
          <a:ln/>
        </p:spPr>
      </p:sp>
      <p:sp>
        <p:nvSpPr>
          <p:cNvPr id="31" name="Shape 29"/>
          <p:cNvSpPr/>
          <p:nvPr/>
        </p:nvSpPr>
        <p:spPr>
          <a:xfrm rot="5306897">
            <a:off x="11513491" y="3023488"/>
            <a:ext cx="106299" cy="368503"/>
          </a:xfrm>
          <a:prstGeom prst="rect">
            <a:avLst/>
          </a:prstGeom>
          <a:solidFill>
            <a:srgbClr val="B9BBB6"/>
          </a:solidFill>
          <a:ln/>
        </p:spPr>
      </p:sp>
      <p:sp>
        <p:nvSpPr>
          <p:cNvPr id="32" name="Shape 30"/>
          <p:cNvSpPr/>
          <p:nvPr/>
        </p:nvSpPr>
        <p:spPr>
          <a:xfrm rot="5865517">
            <a:off x="11501036" y="3253207"/>
            <a:ext cx="106299" cy="368503"/>
          </a:xfrm>
          <a:prstGeom prst="rect">
            <a:avLst/>
          </a:prstGeom>
          <a:solidFill>
            <a:srgbClr val="B9BBB6"/>
          </a:solidFill>
          <a:ln/>
        </p:spPr>
      </p:sp>
      <p:sp>
        <p:nvSpPr>
          <p:cNvPr id="33" name="Shape 31"/>
          <p:cNvSpPr/>
          <p:nvPr/>
        </p:nvSpPr>
        <p:spPr>
          <a:xfrm rot="6424138">
            <a:off x="11451581" y="3477884"/>
            <a:ext cx="106299" cy="368503"/>
          </a:xfrm>
          <a:prstGeom prst="rect">
            <a:avLst/>
          </a:prstGeom>
          <a:solidFill>
            <a:srgbClr val="B9BBB6"/>
          </a:solidFill>
          <a:ln/>
        </p:spPr>
      </p:sp>
      <p:sp>
        <p:nvSpPr>
          <p:cNvPr id="34" name="Shape 32"/>
          <p:cNvSpPr/>
          <p:nvPr/>
        </p:nvSpPr>
        <p:spPr>
          <a:xfrm rot="6982759">
            <a:off x="11366428" y="3691600"/>
            <a:ext cx="106299" cy="368503"/>
          </a:xfrm>
          <a:prstGeom prst="rect">
            <a:avLst/>
          </a:prstGeom>
          <a:solidFill>
            <a:srgbClr val="B9BBB6"/>
          </a:solidFill>
          <a:ln/>
        </p:spPr>
      </p:sp>
      <p:sp>
        <p:nvSpPr>
          <p:cNvPr id="35" name="Shape 33"/>
          <p:cNvSpPr/>
          <p:nvPr/>
        </p:nvSpPr>
        <p:spPr>
          <a:xfrm rot="7541379">
            <a:off x="11247822" y="3888725"/>
            <a:ext cx="106299" cy="368503"/>
          </a:xfrm>
          <a:prstGeom prst="rect">
            <a:avLst/>
          </a:prstGeom>
          <a:solidFill>
            <a:srgbClr val="B9BBB6"/>
          </a:solidFill>
          <a:ln/>
        </p:spPr>
      </p:sp>
      <p:sp>
        <p:nvSpPr>
          <p:cNvPr id="36" name="Shape 34"/>
          <p:cNvSpPr/>
          <p:nvPr/>
        </p:nvSpPr>
        <p:spPr>
          <a:xfrm rot="8100000">
            <a:off x="11098887" y="4064065"/>
            <a:ext cx="106299" cy="368503"/>
          </a:xfrm>
          <a:prstGeom prst="rect">
            <a:avLst/>
          </a:prstGeom>
          <a:solidFill>
            <a:srgbClr val="B9BBB6"/>
          </a:solidFill>
          <a:ln/>
        </p:spPr>
      </p:sp>
      <p:sp>
        <p:nvSpPr>
          <p:cNvPr id="37" name="Shape 35"/>
          <p:cNvSpPr/>
          <p:nvPr/>
        </p:nvSpPr>
        <p:spPr>
          <a:xfrm>
            <a:off x="9129370" y="2225650"/>
            <a:ext cx="2040941" cy="2040941"/>
          </a:xfrm>
          <a:prstGeom prst="ellipse">
            <a:avLst/>
          </a:prstGeom>
          <a:solidFill>
            <a:srgbClr val="26272B"/>
          </a:solidFill>
          <a:ln w="12700">
            <a:solidFill>
              <a:srgbClr val="0D0E10"/>
            </a:solidFill>
            <a:prstDash val="solid"/>
          </a:ln>
          <a:effectLst>
            <a:outerShdw sx="100000" sy="100000" kx="0" ky="0" algn="bl" rotWithShape="0" blurRad="177800" dist="63500" dir="5400000">
              <a:srgbClr val="000000">
                <a:alpha val="40000"/>
              </a:srgbClr>
            </a:outerShdw>
          </a:effectLst>
        </p:spPr>
      </p:sp>
      <p:sp>
        <p:nvSpPr>
          <p:cNvPr id="38" name="Shape 36"/>
          <p:cNvSpPr/>
          <p:nvPr/>
        </p:nvSpPr>
        <p:spPr>
          <a:xfrm rot="1944000">
            <a:off x="10321486" y="2520818"/>
            <a:ext cx="127559" cy="708660"/>
          </a:xfrm>
          <a:prstGeom prst="rect">
            <a:avLst/>
          </a:prstGeom>
          <a:solidFill>
            <a:srgbClr val="FF5C1F"/>
          </a:solidFill>
          <a:ln/>
        </p:spPr>
      </p:sp>
      <p:sp>
        <p:nvSpPr>
          <p:cNvPr id="39" name="Text 37"/>
          <p:cNvSpPr/>
          <p:nvPr/>
        </p:nvSpPr>
        <p:spPr>
          <a:xfrm>
            <a:off x="9235440" y="4450842"/>
            <a:ext cx="1828800" cy="274320"/>
          </a:xfrm>
          <a:prstGeom prst="rect">
            <a:avLst/>
          </a:prstGeom>
          <a:noFill/>
          <a:ln/>
        </p:spPr>
        <p:txBody>
          <a:bodyPr wrap="square" rtlCol="0" anchor="ctr"/>
          <a:lstStyle/>
          <a:p>
            <a:pPr algn="ctr" indent="0" marL="0">
              <a:buNone/>
            </a:pPr>
            <a:r>
              <a:rPr lang="en-US" sz="1000" b="1" spc="200" kern="0" dirty="0">
                <a:solidFill>
                  <a:srgbClr val="9A9BA0"/>
                </a:solidFill>
                <a:latin typeface="Calibri" pitchFamily="34" charset="0"/>
                <a:ea typeface="Calibri" pitchFamily="34" charset="-122"/>
                <a:cs typeface="Calibri" pitchFamily="34" charset="-120"/>
              </a:rPr>
              <a:t>LOUD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ECE8"/>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787A76"/>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232428"/>
                </a:solidFill>
                <a:latin typeface="Calibri" pitchFamily="34" charset="0"/>
                <a:ea typeface="Calibri" pitchFamily="34" charset="-122"/>
                <a:cs typeface="Calibri" pitchFamily="34" charset="-120"/>
              </a:rPr>
              <a:t>Kids' music apps are stuck between two failure modes</a:t>
            </a:r>
            <a:endParaRPr lang="en-US" sz="3000" dirty="0"/>
          </a:p>
        </p:txBody>
      </p:sp>
      <p:sp>
        <p:nvSpPr>
          <p:cNvPr id="5" name="Shape 3"/>
          <p:cNvSpPr/>
          <p:nvPr/>
        </p:nvSpPr>
        <p:spPr>
          <a:xfrm>
            <a:off x="640080" y="1783080"/>
            <a:ext cx="5227168" cy="2926080"/>
          </a:xfrm>
          <a:prstGeom prst="roundRect">
            <a:avLst>
              <a:gd name="adj" fmla="val 2813"/>
            </a:avLst>
          </a:prstGeom>
          <a:solidFill>
            <a:srgbClr val="FFFFFF"/>
          </a:solidFill>
          <a:ln/>
          <a:effectLst>
            <a:outerShdw sx="100000" sy="100000" kx="0" ky="0" algn="bl" rotWithShape="0" blurRad="127000" dist="38100" dir="5400000">
              <a:srgbClr val="000000">
                <a:alpha val="16000"/>
              </a:srgbClr>
            </a:outerShdw>
          </a:effectLst>
        </p:spPr>
      </p:sp>
      <p:sp>
        <p:nvSpPr>
          <p:cNvPr id="6" name="Shape 4"/>
          <p:cNvSpPr/>
          <p:nvPr/>
        </p:nvSpPr>
        <p:spPr>
          <a:xfrm>
            <a:off x="914400" y="2057400"/>
            <a:ext cx="640080" cy="64008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7" name="Image 0" descr="preencoded.png"/>
          <p:cNvPicPr>
            <a:picLocks noChangeAspect="1"/>
          </p:cNvPicPr>
          <p:nvPr/>
        </p:nvPicPr>
        <p:blipFill>
          <a:blip r:embed="rId1"/>
          <a:stretch>
            <a:fillRect/>
          </a:stretch>
        </p:blipFill>
        <p:spPr>
          <a:xfrm>
            <a:off x="1068019" y="2211019"/>
            <a:ext cx="332842" cy="332842"/>
          </a:xfrm>
          <a:prstGeom prst="rect">
            <a:avLst/>
          </a:prstGeom>
        </p:spPr>
      </p:pic>
      <p:sp>
        <p:nvSpPr>
          <p:cNvPr id="8" name="Text 5"/>
          <p:cNvSpPr/>
          <p:nvPr/>
        </p:nvSpPr>
        <p:spPr>
          <a:xfrm>
            <a:off x="914400" y="2834640"/>
            <a:ext cx="4678528" cy="457200"/>
          </a:xfrm>
          <a:prstGeom prst="rect">
            <a:avLst/>
          </a:prstGeom>
          <a:noFill/>
          <a:ln/>
        </p:spPr>
        <p:txBody>
          <a:bodyPr wrap="square" lIns="0" tIns="0" rIns="0" bIns="0" rtlCol="0" anchor="ctr"/>
          <a:lstStyle/>
          <a:p>
            <a:pPr indent="0" marL="0">
              <a:buNone/>
            </a:pPr>
            <a:r>
              <a:rPr lang="en-US" sz="1800" b="1" dirty="0">
                <a:solidFill>
                  <a:srgbClr val="232428"/>
                </a:solidFill>
                <a:latin typeface="Calibri" pitchFamily="34" charset="0"/>
                <a:ea typeface="Calibri" pitchFamily="34" charset="-122"/>
                <a:cs typeface="Calibri" pitchFamily="34" charset="-120"/>
              </a:rPr>
              <a:t>Gamified into a chore</a:t>
            </a:r>
            <a:endParaRPr lang="en-US" sz="1800" dirty="0"/>
          </a:p>
        </p:txBody>
      </p:sp>
      <p:sp>
        <p:nvSpPr>
          <p:cNvPr id="9" name="Text 6"/>
          <p:cNvSpPr/>
          <p:nvPr/>
        </p:nvSpPr>
        <p:spPr>
          <a:xfrm>
            <a:off x="914400" y="3337560"/>
            <a:ext cx="4678528" cy="1188720"/>
          </a:xfrm>
          <a:prstGeom prst="rect">
            <a:avLst/>
          </a:prstGeom>
          <a:noFill/>
          <a:ln/>
        </p:spPr>
        <p:txBody>
          <a:bodyPr wrap="square" lIns="0" tIns="0" rIns="0" bIns="0" rtlCol="0" anchor="ctr"/>
          <a:lstStyle/>
          <a:p>
            <a:pPr indent="0" marL="0">
              <a:lnSpc>
                <a:spcPct val="120000"/>
              </a:lnSpc>
              <a:buNone/>
            </a:pPr>
            <a:r>
              <a:rPr lang="en-US" sz="1350" dirty="0">
                <a:solidFill>
                  <a:srgbClr val="787A76"/>
                </a:solidFill>
                <a:latin typeface="Calibri" pitchFamily="34" charset="0"/>
                <a:ea typeface="Calibri" pitchFamily="34" charset="-122"/>
                <a:cs typeface="Calibri" pitchFamily="34" charset="-120"/>
              </a:rPr>
              <a:t>Streaks, XP, notifications — practice turns into a treadmill instead of a reason to make something.</a:t>
            </a:r>
            <a:endParaRPr lang="en-US" sz="1350" dirty="0"/>
          </a:p>
        </p:txBody>
      </p:sp>
      <p:sp>
        <p:nvSpPr>
          <p:cNvPr id="10" name="Shape 7"/>
          <p:cNvSpPr/>
          <p:nvPr/>
        </p:nvSpPr>
        <p:spPr>
          <a:xfrm>
            <a:off x="6324448" y="1783080"/>
            <a:ext cx="5227168" cy="2926080"/>
          </a:xfrm>
          <a:prstGeom prst="roundRect">
            <a:avLst>
              <a:gd name="adj" fmla="val 2813"/>
            </a:avLst>
          </a:prstGeom>
          <a:solidFill>
            <a:srgbClr val="FFFFFF"/>
          </a:solidFill>
          <a:ln/>
          <a:effectLst>
            <a:outerShdw sx="100000" sy="100000" kx="0" ky="0" algn="bl" rotWithShape="0" blurRad="127000" dist="38100" dir="5400000">
              <a:srgbClr val="000000">
                <a:alpha val="16000"/>
              </a:srgbClr>
            </a:outerShdw>
          </a:effectLst>
        </p:spPr>
      </p:sp>
      <p:sp>
        <p:nvSpPr>
          <p:cNvPr id="11" name="Shape 8"/>
          <p:cNvSpPr/>
          <p:nvPr/>
        </p:nvSpPr>
        <p:spPr>
          <a:xfrm>
            <a:off x="6598768" y="2057400"/>
            <a:ext cx="640080" cy="64008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2" name="Image 1" descr="preencoded.png"/>
          <p:cNvPicPr>
            <a:picLocks noChangeAspect="1"/>
          </p:cNvPicPr>
          <p:nvPr/>
        </p:nvPicPr>
        <p:blipFill>
          <a:blip r:embed="rId2"/>
          <a:stretch>
            <a:fillRect/>
          </a:stretch>
        </p:blipFill>
        <p:spPr>
          <a:xfrm>
            <a:off x="6752387" y="2211019"/>
            <a:ext cx="332842" cy="332842"/>
          </a:xfrm>
          <a:prstGeom prst="rect">
            <a:avLst/>
          </a:prstGeom>
        </p:spPr>
      </p:pic>
      <p:sp>
        <p:nvSpPr>
          <p:cNvPr id="13" name="Text 9"/>
          <p:cNvSpPr/>
          <p:nvPr/>
        </p:nvSpPr>
        <p:spPr>
          <a:xfrm>
            <a:off x="6598768" y="2834640"/>
            <a:ext cx="4678528" cy="457200"/>
          </a:xfrm>
          <a:prstGeom prst="rect">
            <a:avLst/>
          </a:prstGeom>
          <a:noFill/>
          <a:ln/>
        </p:spPr>
        <p:txBody>
          <a:bodyPr wrap="square" lIns="0" tIns="0" rIns="0" bIns="0" rtlCol="0" anchor="ctr"/>
          <a:lstStyle/>
          <a:p>
            <a:pPr indent="0" marL="0">
              <a:buNone/>
            </a:pPr>
            <a:r>
              <a:rPr lang="en-US" sz="1800" b="1" dirty="0">
                <a:solidFill>
                  <a:srgbClr val="232428"/>
                </a:solidFill>
                <a:latin typeface="Calibri" pitchFamily="34" charset="0"/>
                <a:ea typeface="Calibri" pitchFamily="34" charset="-122"/>
                <a:cs typeface="Calibri" pitchFamily="34" charset="-120"/>
              </a:rPr>
              <a:t>A toy, not an instrument</a:t>
            </a:r>
            <a:endParaRPr lang="en-US" sz="1800" dirty="0"/>
          </a:p>
        </p:txBody>
      </p:sp>
      <p:sp>
        <p:nvSpPr>
          <p:cNvPr id="14" name="Text 10"/>
          <p:cNvSpPr/>
          <p:nvPr/>
        </p:nvSpPr>
        <p:spPr>
          <a:xfrm>
            <a:off x="6598768" y="3337560"/>
            <a:ext cx="4678528" cy="1188720"/>
          </a:xfrm>
          <a:prstGeom prst="rect">
            <a:avLst/>
          </a:prstGeom>
          <a:noFill/>
          <a:ln/>
        </p:spPr>
        <p:txBody>
          <a:bodyPr wrap="square" lIns="0" tIns="0" rIns="0" bIns="0" rtlCol="0" anchor="ctr"/>
          <a:lstStyle/>
          <a:p>
            <a:pPr indent="0" marL="0">
              <a:lnSpc>
                <a:spcPct val="120000"/>
              </a:lnSpc>
              <a:buNone/>
            </a:pPr>
            <a:r>
              <a:rPr lang="en-US" sz="1350" dirty="0">
                <a:solidFill>
                  <a:srgbClr val="787A76"/>
                </a:solidFill>
                <a:latin typeface="Calibri" pitchFamily="34" charset="0"/>
                <a:ea typeface="Calibri" pitchFamily="34" charset="-122"/>
                <a:cs typeface="Calibri" pitchFamily="34" charset="-120"/>
              </a:rPr>
              <a:t>Cute interface, but nothing that produces a recording a kid — or you — would actually want to keep.</a:t>
            </a:r>
            <a:endParaRPr lang="en-US" sz="1350" dirty="0"/>
          </a:p>
        </p:txBody>
      </p:sp>
      <p:sp>
        <p:nvSpPr>
          <p:cNvPr id="15" name="Text 11"/>
          <p:cNvSpPr/>
          <p:nvPr/>
        </p:nvSpPr>
        <p:spPr>
          <a:xfrm>
            <a:off x="640080" y="4892040"/>
            <a:ext cx="10911535" cy="548640"/>
          </a:xfrm>
          <a:prstGeom prst="rect">
            <a:avLst/>
          </a:prstGeom>
          <a:noFill/>
          <a:ln/>
        </p:spPr>
        <p:txBody>
          <a:bodyPr wrap="square" lIns="0" tIns="0" rIns="0" bIns="0" rtlCol="0" anchor="ctr"/>
          <a:lstStyle/>
          <a:p>
            <a:pPr indent="0" marL="0">
              <a:buNone/>
            </a:pPr>
            <a:r>
              <a:rPr lang="en-US" sz="2000" b="1" dirty="0">
                <a:solidFill>
                  <a:srgbClr val="FF5C1F"/>
                </a:solidFill>
                <a:latin typeface="Calibri" pitchFamily="34" charset="0"/>
                <a:ea typeface="Calibri" pitchFamily="34" charset="-122"/>
                <a:cs typeface="Calibri" pitchFamily="34" charset="-120"/>
              </a:rPr>
              <a:t>We wanted neither.</a:t>
            </a:r>
            <a:endParaRPr lang="en-US" sz="2000" dirty="0"/>
          </a:p>
        </p:txBody>
      </p:sp>
      <p:sp>
        <p:nvSpPr>
          <p:cNvPr id="16" name="Text 12"/>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B9BBB6"/>
                </a:solidFill>
                <a:latin typeface="Calibri" pitchFamily="34" charset="0"/>
                <a:ea typeface="Calibri" pitchFamily="34" charset="-122"/>
                <a:cs typeface="Calibri" pitchFamily="34" charset="-120"/>
              </a:rPr>
              <a:t>PLAYTAPE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CE8"/>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787A76"/>
                </a:solidFill>
                <a:latin typeface="Calibri" pitchFamily="34" charset="0"/>
                <a:ea typeface="Calibri" pitchFamily="34" charset="-122"/>
                <a:cs typeface="Calibri" pitchFamily="34" charset="-120"/>
              </a:rPr>
              <a:t>THE BET</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232428"/>
                </a:solidFill>
                <a:latin typeface="Calibri" pitchFamily="34" charset="0"/>
                <a:ea typeface="Calibri" pitchFamily="34" charset="-122"/>
                <a:cs typeface="Calibri" pitchFamily="34" charset="-120"/>
              </a:rPr>
              <a:t>One real engine. Two doors.</a:t>
            </a:r>
            <a:endParaRPr lang="en-US" sz="3000" dirty="0"/>
          </a:p>
        </p:txBody>
      </p:sp>
      <p:sp>
        <p:nvSpPr>
          <p:cNvPr id="5" name="Shape 3"/>
          <p:cNvSpPr/>
          <p:nvPr/>
        </p:nvSpPr>
        <p:spPr>
          <a:xfrm>
            <a:off x="4449928" y="1874520"/>
            <a:ext cx="3291840" cy="1188720"/>
          </a:xfrm>
          <a:prstGeom prst="roundRect">
            <a:avLst>
              <a:gd name="adj" fmla="val 6923"/>
            </a:avLst>
          </a:prstGeom>
          <a:solidFill>
            <a:srgbClr val="26272B"/>
          </a:solidFill>
          <a:ln/>
          <a:effectLst>
            <a:outerShdw sx="100000" sy="100000" kx="0" ky="0" algn="bl" rotWithShape="0" blurRad="127000" dist="38100" dir="5400000">
              <a:srgbClr val="000000">
                <a:alpha val="16000"/>
              </a:srgbClr>
            </a:outerShdw>
          </a:effectLst>
        </p:spPr>
      </p:sp>
      <p:sp>
        <p:nvSpPr>
          <p:cNvPr id="6" name="Text 4"/>
          <p:cNvSpPr/>
          <p:nvPr/>
        </p:nvSpPr>
        <p:spPr>
          <a:xfrm>
            <a:off x="4449928" y="2039112"/>
            <a:ext cx="32918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SHARED ENGINE</a:t>
            </a:r>
            <a:endParaRPr lang="en-US" sz="1400" dirty="0"/>
          </a:p>
        </p:txBody>
      </p:sp>
      <p:sp>
        <p:nvSpPr>
          <p:cNvPr id="7" name="Text 5"/>
          <p:cNvSpPr/>
          <p:nvPr/>
        </p:nvSpPr>
        <p:spPr>
          <a:xfrm>
            <a:off x="4449928" y="2441448"/>
            <a:ext cx="3291840" cy="457200"/>
          </a:xfrm>
          <a:prstGeom prst="rect">
            <a:avLst/>
          </a:prstGeom>
          <a:noFill/>
          <a:ln/>
        </p:spPr>
        <p:txBody>
          <a:bodyPr wrap="square" lIns="0" tIns="0" rIns="0" bIns="0" rtlCol="0" anchor="ctr"/>
          <a:lstStyle/>
          <a:p>
            <a:pPr algn="ctr" indent="0" marL="0">
              <a:buNone/>
            </a:pPr>
            <a:r>
              <a:rPr lang="en-US" sz="1050" dirty="0">
                <a:solidFill>
                  <a:srgbClr val="9A9BA0"/>
                </a:solidFill>
                <a:latin typeface="Calibri" pitchFamily="34" charset="0"/>
                <a:ea typeface="Calibri" pitchFamily="34" charset="-122"/>
                <a:cs typeface="Calibri" pitchFamily="34" charset="-120"/>
              </a:rPr>
              <a:t>recording · mixing · export · project format</a:t>
            </a:r>
            <a:endParaRPr lang="en-US" sz="1050" dirty="0"/>
          </a:p>
        </p:txBody>
      </p:sp>
      <p:sp>
        <p:nvSpPr>
          <p:cNvPr id="8" name="Shape 6"/>
          <p:cNvSpPr/>
          <p:nvPr/>
        </p:nvSpPr>
        <p:spPr>
          <a:xfrm>
            <a:off x="5371643" y="3063240"/>
            <a:ext cx="-929030" cy="594360"/>
          </a:xfrm>
          <a:prstGeom prst="line">
            <a:avLst/>
          </a:prstGeom>
          <a:noFill/>
          <a:ln w="19050">
            <a:solidFill>
              <a:srgbClr val="C9C9C2"/>
            </a:solidFill>
            <a:prstDash val="solid"/>
          </a:ln>
        </p:spPr>
      </p:sp>
      <p:sp>
        <p:nvSpPr>
          <p:cNvPr id="9" name="Shape 7"/>
          <p:cNvSpPr/>
          <p:nvPr/>
        </p:nvSpPr>
        <p:spPr>
          <a:xfrm>
            <a:off x="6820052" y="3063240"/>
            <a:ext cx="929030" cy="594360"/>
          </a:xfrm>
          <a:prstGeom prst="line">
            <a:avLst/>
          </a:prstGeom>
          <a:noFill/>
          <a:ln w="19050">
            <a:solidFill>
              <a:srgbClr val="C9C9C2"/>
            </a:solidFill>
            <a:prstDash val="solid"/>
          </a:ln>
        </p:spPr>
      </p:sp>
      <p:sp>
        <p:nvSpPr>
          <p:cNvPr id="10" name="Shape 8"/>
          <p:cNvSpPr/>
          <p:nvPr/>
        </p:nvSpPr>
        <p:spPr>
          <a:xfrm>
            <a:off x="2072488" y="3657600"/>
            <a:ext cx="3291840" cy="1828800"/>
          </a:xfrm>
          <a:prstGeom prst="roundRect">
            <a:avLst>
              <a:gd name="adj" fmla="val 4500"/>
            </a:avLst>
          </a:prstGeom>
          <a:solidFill>
            <a:srgbClr val="FFFFFF"/>
          </a:solidFill>
          <a:ln/>
          <a:effectLst>
            <a:outerShdw sx="100000" sy="100000" kx="0" ky="0" algn="bl" rotWithShape="0" blurRad="127000" dist="38100" dir="5400000">
              <a:srgbClr val="000000">
                <a:alpha val="16000"/>
              </a:srgbClr>
            </a:outerShdw>
          </a:effectLst>
        </p:spPr>
      </p:sp>
      <p:sp>
        <p:nvSpPr>
          <p:cNvPr id="11" name="Shape 9"/>
          <p:cNvSpPr/>
          <p:nvPr/>
        </p:nvSpPr>
        <p:spPr>
          <a:xfrm>
            <a:off x="2392528" y="3950208"/>
            <a:ext cx="548640" cy="54864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2" name="Image 0" descr="preencoded.png"/>
          <p:cNvPicPr>
            <a:picLocks noChangeAspect="1"/>
          </p:cNvPicPr>
          <p:nvPr/>
        </p:nvPicPr>
        <p:blipFill>
          <a:blip r:embed="rId1"/>
          <a:stretch>
            <a:fillRect/>
          </a:stretch>
        </p:blipFill>
        <p:spPr>
          <a:xfrm>
            <a:off x="2524201" y="4081882"/>
            <a:ext cx="285293" cy="285293"/>
          </a:xfrm>
          <a:prstGeom prst="rect">
            <a:avLst/>
          </a:prstGeom>
        </p:spPr>
      </p:pic>
      <p:sp>
        <p:nvSpPr>
          <p:cNvPr id="13" name="Text 10"/>
          <p:cNvSpPr/>
          <p:nvPr/>
        </p:nvSpPr>
        <p:spPr>
          <a:xfrm>
            <a:off x="3078328" y="3931920"/>
            <a:ext cx="2103120" cy="365760"/>
          </a:xfrm>
          <a:prstGeom prst="rect">
            <a:avLst/>
          </a:prstGeom>
          <a:noFill/>
          <a:ln/>
        </p:spPr>
        <p:txBody>
          <a:bodyPr wrap="square" lIns="0" tIns="0" rIns="0" bIns="0" rtlCol="0" anchor="ctr"/>
          <a:lstStyle/>
          <a:p>
            <a:pPr indent="0" marL="0">
              <a:buNone/>
            </a:pPr>
            <a:r>
              <a:rPr lang="en-US" sz="1800" b="1" dirty="0">
                <a:solidFill>
                  <a:srgbClr val="232428"/>
                </a:solidFill>
                <a:latin typeface="Calibri" pitchFamily="34" charset="0"/>
                <a:ea typeface="Calibri" pitchFamily="34" charset="-122"/>
                <a:cs typeface="Calibri" pitchFamily="34" charset="-120"/>
              </a:rPr>
              <a:t>TAPE</a:t>
            </a:r>
            <a:endParaRPr lang="en-US" sz="1800" dirty="0"/>
          </a:p>
        </p:txBody>
      </p:sp>
      <p:sp>
        <p:nvSpPr>
          <p:cNvPr id="14" name="Text 11"/>
          <p:cNvSpPr/>
          <p:nvPr/>
        </p:nvSpPr>
        <p:spPr>
          <a:xfrm>
            <a:off x="2392528" y="4526280"/>
            <a:ext cx="2651760" cy="822960"/>
          </a:xfrm>
          <a:prstGeom prst="rect">
            <a:avLst/>
          </a:prstGeom>
          <a:noFill/>
          <a:ln/>
        </p:spPr>
        <p:txBody>
          <a:bodyPr wrap="square" lIns="0" tIns="0" rIns="0" bIns="0" rtlCol="0" anchor="ctr"/>
          <a:lstStyle/>
          <a:p>
            <a:pPr indent="0" marL="0">
              <a:lnSpc>
                <a:spcPct val="115000"/>
              </a:lnSpc>
              <a:buNone/>
            </a:pPr>
            <a:r>
              <a:rPr lang="en-US" sz="1250" dirty="0">
                <a:solidFill>
                  <a:srgbClr val="787A76"/>
                </a:solidFill>
                <a:latin typeface="Calibri" pitchFamily="34" charset="0"/>
                <a:ea typeface="Calibri" pitchFamily="34" charset="-122"/>
                <a:cs typeface="Calibri" pitchFamily="34" charset="-120"/>
              </a:rPr>
              <a:t>The full portastudio. 8 tracks, non-destructive FX, fast offline export.</a:t>
            </a:r>
            <a:endParaRPr lang="en-US" sz="1250" dirty="0"/>
          </a:p>
        </p:txBody>
      </p:sp>
      <p:sp>
        <p:nvSpPr>
          <p:cNvPr id="15" name="Shape 12"/>
          <p:cNvSpPr/>
          <p:nvPr/>
        </p:nvSpPr>
        <p:spPr>
          <a:xfrm>
            <a:off x="6827368" y="3657600"/>
            <a:ext cx="3291840" cy="1828800"/>
          </a:xfrm>
          <a:prstGeom prst="roundRect">
            <a:avLst>
              <a:gd name="adj" fmla="val 4500"/>
            </a:avLst>
          </a:prstGeom>
          <a:solidFill>
            <a:srgbClr val="FFFFFF"/>
          </a:solidFill>
          <a:ln/>
          <a:effectLst>
            <a:outerShdw sx="100000" sy="100000" kx="0" ky="0" algn="bl" rotWithShape="0" blurRad="127000" dist="38100" dir="5400000">
              <a:srgbClr val="000000">
                <a:alpha val="16000"/>
              </a:srgbClr>
            </a:outerShdw>
          </a:effectLst>
        </p:spPr>
      </p:sp>
      <p:sp>
        <p:nvSpPr>
          <p:cNvPr id="16" name="Shape 13"/>
          <p:cNvSpPr/>
          <p:nvPr/>
        </p:nvSpPr>
        <p:spPr>
          <a:xfrm>
            <a:off x="7147408" y="3950208"/>
            <a:ext cx="548640" cy="54864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7" name="Image 1" descr="preencoded.png"/>
          <p:cNvPicPr>
            <a:picLocks noChangeAspect="1"/>
          </p:cNvPicPr>
          <p:nvPr/>
        </p:nvPicPr>
        <p:blipFill>
          <a:blip r:embed="rId2"/>
          <a:stretch>
            <a:fillRect/>
          </a:stretch>
        </p:blipFill>
        <p:spPr>
          <a:xfrm>
            <a:off x="7279081" y="4081882"/>
            <a:ext cx="285293" cy="285293"/>
          </a:xfrm>
          <a:prstGeom prst="rect">
            <a:avLst/>
          </a:prstGeom>
        </p:spPr>
      </p:pic>
      <p:sp>
        <p:nvSpPr>
          <p:cNvPr id="18" name="Text 14"/>
          <p:cNvSpPr/>
          <p:nvPr/>
        </p:nvSpPr>
        <p:spPr>
          <a:xfrm>
            <a:off x="7833208" y="3931920"/>
            <a:ext cx="2103120" cy="365760"/>
          </a:xfrm>
          <a:prstGeom prst="rect">
            <a:avLst/>
          </a:prstGeom>
          <a:noFill/>
          <a:ln/>
        </p:spPr>
        <p:txBody>
          <a:bodyPr wrap="square" lIns="0" tIns="0" rIns="0" bIns="0" rtlCol="0" anchor="ctr"/>
          <a:lstStyle/>
          <a:p>
            <a:pPr indent="0" marL="0">
              <a:buNone/>
            </a:pPr>
            <a:r>
              <a:rPr lang="en-US" sz="1800" b="1" dirty="0">
                <a:solidFill>
                  <a:srgbClr val="232428"/>
                </a:solidFill>
                <a:latin typeface="Calibri" pitchFamily="34" charset="0"/>
                <a:ea typeface="Calibri" pitchFamily="34" charset="-122"/>
                <a:cs typeface="Calibri" pitchFamily="34" charset="-120"/>
              </a:rPr>
              <a:t>PLAYTAPE</a:t>
            </a:r>
            <a:endParaRPr lang="en-US" sz="1800" dirty="0"/>
          </a:p>
        </p:txBody>
      </p:sp>
      <p:sp>
        <p:nvSpPr>
          <p:cNvPr id="19" name="Text 15"/>
          <p:cNvSpPr/>
          <p:nvPr/>
        </p:nvSpPr>
        <p:spPr>
          <a:xfrm>
            <a:off x="7147408" y="4526280"/>
            <a:ext cx="2651760" cy="822960"/>
          </a:xfrm>
          <a:prstGeom prst="rect">
            <a:avLst/>
          </a:prstGeom>
          <a:noFill/>
          <a:ln/>
        </p:spPr>
        <p:txBody>
          <a:bodyPr wrap="square" lIns="0" tIns="0" rIns="0" bIns="0" rtlCol="0" anchor="ctr"/>
          <a:lstStyle/>
          <a:p>
            <a:pPr indent="0" marL="0">
              <a:lnSpc>
                <a:spcPct val="115000"/>
              </a:lnSpc>
              <a:buNone/>
            </a:pPr>
            <a:r>
              <a:rPr lang="en-US" sz="1250" dirty="0">
                <a:solidFill>
                  <a:srgbClr val="787A76"/>
                </a:solidFill>
                <a:latin typeface="Calibri" pitchFamily="34" charset="0"/>
                <a:ea typeface="Calibri" pitchFamily="34" charset="-122"/>
                <a:cs typeface="Calibri" pitchFamily="34" charset="-120"/>
              </a:rPr>
              <a:t>The kids' edition. Same engine, a shelf of cassettes, three stages.</a:t>
            </a:r>
            <a:endParaRPr lang="en-US" sz="1250" dirty="0"/>
          </a:p>
        </p:txBody>
      </p:sp>
      <p:sp>
        <p:nvSpPr>
          <p:cNvPr id="20" name="Text 16"/>
          <p:cNvSpPr/>
          <p:nvPr/>
        </p:nvSpPr>
        <p:spPr>
          <a:xfrm>
            <a:off x="640080" y="5806440"/>
            <a:ext cx="10911535" cy="457200"/>
          </a:xfrm>
          <a:prstGeom prst="rect">
            <a:avLst/>
          </a:prstGeom>
          <a:noFill/>
          <a:ln/>
        </p:spPr>
        <p:txBody>
          <a:bodyPr wrap="square" lIns="0" tIns="0" rIns="0" bIns="0" rtlCol="0" anchor="ctr"/>
          <a:lstStyle/>
          <a:p>
            <a:pPr algn="ctr" indent="0" marL="0">
              <a:buNone/>
            </a:pPr>
            <a:r>
              <a:rPr lang="en-US" sz="1400" i="1" dirty="0">
                <a:solidFill>
                  <a:srgbClr val="FF5C1F"/>
                </a:solidFill>
                <a:latin typeface="Calibri" pitchFamily="34" charset="0"/>
                <a:ea typeface="Calibri" pitchFamily="34" charset="-122"/>
                <a:cs typeface="Calibri" pitchFamily="34" charset="-120"/>
              </a:rPr>
              <a:t>Same project file, both directions — PLAYTAPE isn't a toy you throw away, it's a gateway.</a:t>
            </a:r>
            <a:endParaRPr lang="en-US" sz="1400" dirty="0"/>
          </a:p>
        </p:txBody>
      </p:sp>
      <p:sp>
        <p:nvSpPr>
          <p:cNvPr id="21" name="Text 17"/>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B9BBB6"/>
                </a:solidFill>
                <a:latin typeface="Calibri" pitchFamily="34" charset="0"/>
                <a:ea typeface="Calibri" pitchFamily="34" charset="-122"/>
                <a:cs typeface="Calibri" pitchFamily="34" charset="-120"/>
              </a:rPr>
              <a:t>PLAYTAPE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CE8"/>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787A76"/>
                </a:solidFill>
                <a:latin typeface="Calibri" pitchFamily="34" charset="0"/>
                <a:ea typeface="Calibri" pitchFamily="34" charset="-122"/>
                <a:cs typeface="Calibri" pitchFamily="34" charset="-120"/>
              </a:rPr>
              <a:t>PRODUCT TOUR</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232428"/>
                </a:solidFill>
                <a:latin typeface="Calibri" pitchFamily="34" charset="0"/>
                <a:ea typeface="Calibri" pitchFamily="34" charset="-122"/>
                <a:cs typeface="Calibri" pitchFamily="34" charset="-120"/>
              </a:rPr>
              <a:t>Home is a shelf, not a file browser</a:t>
            </a:r>
            <a:endParaRPr lang="en-US" sz="3000" dirty="0"/>
          </a:p>
        </p:txBody>
      </p:sp>
      <p:sp>
        <p:nvSpPr>
          <p:cNvPr id="5" name="Text 3"/>
          <p:cNvSpPr/>
          <p:nvPr/>
        </p:nvSpPr>
        <p:spPr>
          <a:xfrm>
            <a:off x="658368" y="1691640"/>
            <a:ext cx="10911535" cy="457200"/>
          </a:xfrm>
          <a:prstGeom prst="rect">
            <a:avLst/>
          </a:prstGeom>
          <a:noFill/>
          <a:ln/>
        </p:spPr>
        <p:txBody>
          <a:bodyPr wrap="square" lIns="0" tIns="0" rIns="0" bIns="0" rtlCol="0" anchor="ctr"/>
          <a:lstStyle/>
          <a:p>
            <a:pPr indent="0" marL="0">
              <a:lnSpc>
                <a:spcPct val="120000"/>
              </a:lnSpc>
              <a:buNone/>
            </a:pPr>
            <a:r>
              <a:rPr lang="en-US" sz="1350" dirty="0">
                <a:solidFill>
                  <a:srgbClr val="787A76"/>
                </a:solidFill>
                <a:latin typeface="Calibri" pitchFamily="34" charset="0"/>
                <a:ea typeface="Calibri" pitchFamily="34" charset="-122"/>
                <a:cs typeface="Calibri" pitchFamily="34" charset="-120"/>
              </a:rPr>
              <a:t>Every song is a cassette. Tap a blank one to start; a finished mix earns a small foil sticker — the entire reward system.</a:t>
            </a:r>
            <a:endParaRPr lang="en-US" sz="1350" dirty="0"/>
          </a:p>
        </p:txBody>
      </p:sp>
      <p:sp>
        <p:nvSpPr>
          <p:cNvPr id="6" name="Shape 4"/>
          <p:cNvSpPr/>
          <p:nvPr/>
        </p:nvSpPr>
        <p:spPr>
          <a:xfrm>
            <a:off x="640080" y="2331720"/>
            <a:ext cx="3332378" cy="3246120"/>
          </a:xfrm>
          <a:prstGeom prst="roundRect">
            <a:avLst>
              <a:gd name="adj" fmla="val 2535"/>
            </a:avLst>
          </a:prstGeom>
          <a:solidFill>
            <a:srgbClr val="1B1C1F"/>
          </a:solidFill>
          <a:ln/>
          <a:effectLst>
            <a:outerShdw sx="100000" sy="100000" kx="0" ky="0" algn="bl" rotWithShape="0" blurRad="127000" dist="38100" dir="5400000">
              <a:srgbClr val="000000">
                <a:alpha val="16000"/>
              </a:srgbClr>
            </a:outerShdw>
          </a:effectLst>
        </p:spPr>
      </p:sp>
      <p:sp>
        <p:nvSpPr>
          <p:cNvPr id="7" name="Shape 5"/>
          <p:cNvSpPr/>
          <p:nvPr/>
        </p:nvSpPr>
        <p:spPr>
          <a:xfrm>
            <a:off x="640080" y="2331720"/>
            <a:ext cx="3332378" cy="73152"/>
          </a:xfrm>
          <a:prstGeom prst="rect">
            <a:avLst/>
          </a:prstGeom>
          <a:solidFill>
            <a:srgbClr val="2FD463"/>
          </a:solidFill>
          <a:ln/>
        </p:spPr>
      </p:sp>
      <p:sp>
        <p:nvSpPr>
          <p:cNvPr id="8" name="Text 6"/>
          <p:cNvSpPr/>
          <p:nvPr/>
        </p:nvSpPr>
        <p:spPr>
          <a:xfrm>
            <a:off x="914400" y="2651760"/>
            <a:ext cx="2783738" cy="457200"/>
          </a:xfrm>
          <a:prstGeom prst="rect">
            <a:avLst/>
          </a:prstGeom>
          <a:noFill/>
          <a:ln/>
        </p:spPr>
        <p:txBody>
          <a:bodyPr wrap="square" lIns="0" tIns="0" rIns="0" bIns="0" rtlCol="0" anchor="ctr"/>
          <a:lstStyle/>
          <a:p>
            <a:pPr indent="0" marL="0">
              <a:buNone/>
            </a:pPr>
            <a:r>
              <a:rPr lang="en-US" sz="2000" b="1" spc="100" kern="0" dirty="0">
                <a:solidFill>
                  <a:srgbClr val="FFFFFF"/>
                </a:solidFill>
                <a:latin typeface="Calibri" pitchFamily="34" charset="0"/>
                <a:ea typeface="Calibri" pitchFamily="34" charset="-122"/>
                <a:cs typeface="Calibri" pitchFamily="34" charset="-120"/>
              </a:rPr>
              <a:t>PLAY</a:t>
            </a:r>
            <a:endParaRPr lang="en-US" sz="2000" dirty="0"/>
          </a:p>
        </p:txBody>
      </p:sp>
      <p:sp>
        <p:nvSpPr>
          <p:cNvPr id="9" name="Text 7"/>
          <p:cNvSpPr/>
          <p:nvPr/>
        </p:nvSpPr>
        <p:spPr>
          <a:xfrm>
            <a:off x="914400" y="3108960"/>
            <a:ext cx="2783738" cy="274320"/>
          </a:xfrm>
          <a:prstGeom prst="rect">
            <a:avLst/>
          </a:prstGeom>
          <a:noFill/>
          <a:ln/>
        </p:spPr>
        <p:txBody>
          <a:bodyPr wrap="square" lIns="0" tIns="0" rIns="0" bIns="0" rtlCol="0" anchor="ctr"/>
          <a:lstStyle/>
          <a:p>
            <a:pPr indent="0" marL="0">
              <a:buNone/>
            </a:pPr>
            <a:r>
              <a:rPr lang="en-US" sz="1050" dirty="0">
                <a:solidFill>
                  <a:srgbClr val="9A9BA0"/>
                </a:solidFill>
                <a:latin typeface="Courier New" pitchFamily="34" charset="0"/>
                <a:ea typeface="Courier New" pitchFamily="34" charset="-122"/>
                <a:cs typeface="Courier New" pitchFamily="34" charset="-120"/>
              </a:rPr>
              <a:t>ages ~5-7</a:t>
            </a:r>
            <a:endParaRPr lang="en-US" sz="1050" dirty="0"/>
          </a:p>
        </p:txBody>
      </p:sp>
      <p:sp>
        <p:nvSpPr>
          <p:cNvPr id="10" name="Text 8"/>
          <p:cNvSpPr/>
          <p:nvPr/>
        </p:nvSpPr>
        <p:spPr>
          <a:xfrm>
            <a:off x="914400" y="3520440"/>
            <a:ext cx="2783738" cy="1463040"/>
          </a:xfrm>
          <a:prstGeom prst="rect">
            <a:avLst/>
          </a:prstGeom>
          <a:noFill/>
          <a:ln/>
        </p:spPr>
        <p:txBody>
          <a:bodyPr wrap="square" lIns="0" tIns="0" rIns="0" bIns="0" rtlCol="0" anchor="ctr"/>
          <a:lstStyle/>
          <a:p>
            <a:pPr indent="0" marL="0">
              <a:lnSpc>
                <a:spcPct val="125000"/>
              </a:lnSpc>
              <a:buNone/>
            </a:pPr>
            <a:r>
              <a:rPr lang="en-US" sz="1300" dirty="0">
                <a:solidFill>
                  <a:srgbClr val="E8E9E6"/>
                </a:solidFill>
                <a:latin typeface="Calibri" pitchFamily="34" charset="0"/>
                <a:ea typeface="Calibri" pitchFamily="34" charset="-122"/>
                <a:cs typeface="Calibri" pitchFamily="34" charset="-120"/>
              </a:rPr>
              <a:t>Giant record &amp; play. One knob per track. Nothing to break.</a:t>
            </a:r>
            <a:endParaRPr lang="en-US" sz="1300" dirty="0"/>
          </a:p>
        </p:txBody>
      </p:sp>
      <p:sp>
        <p:nvSpPr>
          <p:cNvPr id="11" name="Shape 9"/>
          <p:cNvSpPr/>
          <p:nvPr/>
        </p:nvSpPr>
        <p:spPr>
          <a:xfrm>
            <a:off x="4063898" y="3931920"/>
            <a:ext cx="274320" cy="36576"/>
          </a:xfrm>
          <a:prstGeom prst="rect">
            <a:avLst/>
          </a:prstGeom>
          <a:solidFill>
            <a:srgbClr val="C9C9C2"/>
          </a:solidFill>
          <a:ln/>
        </p:spPr>
      </p:sp>
      <p:sp>
        <p:nvSpPr>
          <p:cNvPr id="12" name="Shape 10"/>
          <p:cNvSpPr/>
          <p:nvPr/>
        </p:nvSpPr>
        <p:spPr>
          <a:xfrm>
            <a:off x="4429658" y="2331720"/>
            <a:ext cx="3332378" cy="3246120"/>
          </a:xfrm>
          <a:prstGeom prst="roundRect">
            <a:avLst>
              <a:gd name="adj" fmla="val 2535"/>
            </a:avLst>
          </a:prstGeom>
          <a:solidFill>
            <a:srgbClr val="1B1C1F"/>
          </a:solidFill>
          <a:ln/>
          <a:effectLst>
            <a:outerShdw sx="100000" sy="100000" kx="0" ky="0" algn="bl" rotWithShape="0" blurRad="127000" dist="38100" dir="5400000">
              <a:srgbClr val="000000">
                <a:alpha val="16000"/>
              </a:srgbClr>
            </a:outerShdw>
          </a:effectLst>
        </p:spPr>
      </p:sp>
      <p:sp>
        <p:nvSpPr>
          <p:cNvPr id="13" name="Shape 11"/>
          <p:cNvSpPr/>
          <p:nvPr/>
        </p:nvSpPr>
        <p:spPr>
          <a:xfrm>
            <a:off x="4429658" y="2331720"/>
            <a:ext cx="3332378" cy="73152"/>
          </a:xfrm>
          <a:prstGeom prst="rect">
            <a:avLst/>
          </a:prstGeom>
          <a:solidFill>
            <a:srgbClr val="3D7BFF"/>
          </a:solidFill>
          <a:ln/>
        </p:spPr>
      </p:sp>
      <p:sp>
        <p:nvSpPr>
          <p:cNvPr id="14" name="Text 12"/>
          <p:cNvSpPr/>
          <p:nvPr/>
        </p:nvSpPr>
        <p:spPr>
          <a:xfrm>
            <a:off x="4703978" y="2651760"/>
            <a:ext cx="2783738" cy="457200"/>
          </a:xfrm>
          <a:prstGeom prst="rect">
            <a:avLst/>
          </a:prstGeom>
          <a:noFill/>
          <a:ln/>
        </p:spPr>
        <p:txBody>
          <a:bodyPr wrap="square" lIns="0" tIns="0" rIns="0" bIns="0" rtlCol="0" anchor="ctr"/>
          <a:lstStyle/>
          <a:p>
            <a:pPr indent="0" marL="0">
              <a:buNone/>
            </a:pPr>
            <a:r>
              <a:rPr lang="en-US" sz="2000" b="1" spc="100" kern="0" dirty="0">
                <a:solidFill>
                  <a:srgbClr val="FFFFFF"/>
                </a:solidFill>
                <a:latin typeface="Calibri" pitchFamily="34" charset="0"/>
                <a:ea typeface="Calibri" pitchFamily="34" charset="-122"/>
                <a:cs typeface="Calibri" pitchFamily="34" charset="-120"/>
              </a:rPr>
              <a:t>ARRANGE</a:t>
            </a:r>
            <a:endParaRPr lang="en-US" sz="2000" dirty="0"/>
          </a:p>
        </p:txBody>
      </p:sp>
      <p:sp>
        <p:nvSpPr>
          <p:cNvPr id="15" name="Text 13"/>
          <p:cNvSpPr/>
          <p:nvPr/>
        </p:nvSpPr>
        <p:spPr>
          <a:xfrm>
            <a:off x="4703978" y="3108960"/>
            <a:ext cx="2783738" cy="274320"/>
          </a:xfrm>
          <a:prstGeom prst="rect">
            <a:avLst/>
          </a:prstGeom>
          <a:noFill/>
          <a:ln/>
        </p:spPr>
        <p:txBody>
          <a:bodyPr wrap="square" lIns="0" tIns="0" rIns="0" bIns="0" rtlCol="0" anchor="ctr"/>
          <a:lstStyle/>
          <a:p>
            <a:pPr indent="0" marL="0">
              <a:buNone/>
            </a:pPr>
            <a:r>
              <a:rPr lang="en-US" sz="1050" dirty="0">
                <a:solidFill>
                  <a:srgbClr val="9A9BA0"/>
                </a:solidFill>
                <a:latin typeface="Courier New" pitchFamily="34" charset="0"/>
                <a:ea typeface="Courier New" pitchFamily="34" charset="-122"/>
                <a:cs typeface="Courier New" pitchFamily="34" charset="-120"/>
              </a:rPr>
              <a:t>ages ~8-11</a:t>
            </a:r>
            <a:endParaRPr lang="en-US" sz="1050" dirty="0"/>
          </a:p>
        </p:txBody>
      </p:sp>
      <p:sp>
        <p:nvSpPr>
          <p:cNvPr id="16" name="Text 14"/>
          <p:cNvSpPr/>
          <p:nvPr/>
        </p:nvSpPr>
        <p:spPr>
          <a:xfrm>
            <a:off x="4703978" y="3520440"/>
            <a:ext cx="2783738" cy="1463040"/>
          </a:xfrm>
          <a:prstGeom prst="rect">
            <a:avLst/>
          </a:prstGeom>
          <a:noFill/>
          <a:ln/>
        </p:spPr>
        <p:txBody>
          <a:bodyPr wrap="square" lIns="0" tIns="0" rIns="0" bIns="0" rtlCol="0" anchor="ctr"/>
          <a:lstStyle/>
          <a:p>
            <a:pPr indent="0" marL="0">
              <a:lnSpc>
                <a:spcPct val="125000"/>
              </a:lnSpc>
              <a:buNone/>
            </a:pPr>
            <a:r>
              <a:rPr lang="en-US" sz="1300" dirty="0">
                <a:solidFill>
                  <a:srgbClr val="E8E9E6"/>
                </a:solidFill>
                <a:latin typeface="Calibri" pitchFamily="34" charset="0"/>
                <a:ea typeface="Calibri" pitchFamily="34" charset="-122"/>
                <a:cs typeface="Calibri" pitchFamily="34" charset="-120"/>
              </a:rPr>
              <a:t>Clips, loops, punch-in, a drum grid, three macro knobs.</a:t>
            </a:r>
            <a:endParaRPr lang="en-US" sz="1300" dirty="0"/>
          </a:p>
        </p:txBody>
      </p:sp>
      <p:sp>
        <p:nvSpPr>
          <p:cNvPr id="17" name="Shape 15"/>
          <p:cNvSpPr/>
          <p:nvPr/>
        </p:nvSpPr>
        <p:spPr>
          <a:xfrm>
            <a:off x="7853477" y="3931920"/>
            <a:ext cx="274320" cy="36576"/>
          </a:xfrm>
          <a:prstGeom prst="rect">
            <a:avLst/>
          </a:prstGeom>
          <a:solidFill>
            <a:srgbClr val="C9C9C2"/>
          </a:solidFill>
          <a:ln/>
        </p:spPr>
      </p:sp>
      <p:sp>
        <p:nvSpPr>
          <p:cNvPr id="18" name="Shape 16"/>
          <p:cNvSpPr/>
          <p:nvPr/>
        </p:nvSpPr>
        <p:spPr>
          <a:xfrm>
            <a:off x="8219237" y="2331720"/>
            <a:ext cx="3332378" cy="3246120"/>
          </a:xfrm>
          <a:prstGeom prst="roundRect">
            <a:avLst>
              <a:gd name="adj" fmla="val 2535"/>
            </a:avLst>
          </a:prstGeom>
          <a:solidFill>
            <a:srgbClr val="1B1C1F"/>
          </a:solidFill>
          <a:ln/>
          <a:effectLst>
            <a:outerShdw sx="100000" sy="100000" kx="0" ky="0" algn="bl" rotWithShape="0" blurRad="127000" dist="38100" dir="5400000">
              <a:srgbClr val="000000">
                <a:alpha val="16000"/>
              </a:srgbClr>
            </a:outerShdw>
          </a:effectLst>
        </p:spPr>
      </p:sp>
      <p:sp>
        <p:nvSpPr>
          <p:cNvPr id="19" name="Shape 17"/>
          <p:cNvSpPr/>
          <p:nvPr/>
        </p:nvSpPr>
        <p:spPr>
          <a:xfrm>
            <a:off x="8219237" y="2331720"/>
            <a:ext cx="3332378" cy="73152"/>
          </a:xfrm>
          <a:prstGeom prst="rect">
            <a:avLst/>
          </a:prstGeom>
          <a:solidFill>
            <a:srgbClr val="8B5CF6"/>
          </a:solidFill>
          <a:ln/>
        </p:spPr>
      </p:sp>
      <p:sp>
        <p:nvSpPr>
          <p:cNvPr id="20" name="Text 18"/>
          <p:cNvSpPr/>
          <p:nvPr/>
        </p:nvSpPr>
        <p:spPr>
          <a:xfrm>
            <a:off x="8493557" y="2651760"/>
            <a:ext cx="2783738" cy="457200"/>
          </a:xfrm>
          <a:prstGeom prst="rect">
            <a:avLst/>
          </a:prstGeom>
          <a:noFill/>
          <a:ln/>
        </p:spPr>
        <p:txBody>
          <a:bodyPr wrap="square" lIns="0" tIns="0" rIns="0" bIns="0" rtlCol="0" anchor="ctr"/>
          <a:lstStyle/>
          <a:p>
            <a:pPr indent="0" marL="0">
              <a:buNone/>
            </a:pPr>
            <a:r>
              <a:rPr lang="en-US" sz="2000" b="1" spc="100" kern="0" dirty="0">
                <a:solidFill>
                  <a:srgbClr val="FFFFFF"/>
                </a:solidFill>
                <a:latin typeface="Calibri" pitchFamily="34" charset="0"/>
                <a:ea typeface="Calibri" pitchFamily="34" charset="-122"/>
                <a:cs typeface="Calibri" pitchFamily="34" charset="-120"/>
              </a:rPr>
              <a:t>STUDIO</a:t>
            </a:r>
            <a:endParaRPr lang="en-US" sz="2000" dirty="0"/>
          </a:p>
        </p:txBody>
      </p:sp>
      <p:sp>
        <p:nvSpPr>
          <p:cNvPr id="21" name="Text 19"/>
          <p:cNvSpPr/>
          <p:nvPr/>
        </p:nvSpPr>
        <p:spPr>
          <a:xfrm>
            <a:off x="8493557" y="3108960"/>
            <a:ext cx="2783738" cy="274320"/>
          </a:xfrm>
          <a:prstGeom prst="rect">
            <a:avLst/>
          </a:prstGeom>
          <a:noFill/>
          <a:ln/>
        </p:spPr>
        <p:txBody>
          <a:bodyPr wrap="square" lIns="0" tIns="0" rIns="0" bIns="0" rtlCol="0" anchor="ctr"/>
          <a:lstStyle/>
          <a:p>
            <a:pPr indent="0" marL="0">
              <a:buNone/>
            </a:pPr>
            <a:r>
              <a:rPr lang="en-US" sz="1050" dirty="0">
                <a:solidFill>
                  <a:srgbClr val="9A9BA0"/>
                </a:solidFill>
                <a:latin typeface="Courier New" pitchFamily="34" charset="0"/>
                <a:ea typeface="Courier New" pitchFamily="34" charset="-122"/>
                <a:cs typeface="Courier New" pitchFamily="34" charset="-120"/>
              </a:rPr>
              <a:t>12+ and grown-ups</a:t>
            </a:r>
            <a:endParaRPr lang="en-US" sz="1050" dirty="0"/>
          </a:p>
        </p:txBody>
      </p:sp>
      <p:sp>
        <p:nvSpPr>
          <p:cNvPr id="22" name="Text 20"/>
          <p:cNvSpPr/>
          <p:nvPr/>
        </p:nvSpPr>
        <p:spPr>
          <a:xfrm>
            <a:off x="8493557" y="3520440"/>
            <a:ext cx="2783738" cy="1463040"/>
          </a:xfrm>
          <a:prstGeom prst="rect">
            <a:avLst/>
          </a:prstGeom>
          <a:noFill/>
          <a:ln/>
        </p:spPr>
        <p:txBody>
          <a:bodyPr wrap="square" lIns="0" tIns="0" rIns="0" bIns="0" rtlCol="0" anchor="ctr"/>
          <a:lstStyle/>
          <a:p>
            <a:pPr indent="0" marL="0">
              <a:lnSpc>
                <a:spcPct val="125000"/>
              </a:lnSpc>
              <a:buNone/>
            </a:pPr>
            <a:r>
              <a:rPr lang="en-US" sz="1300" dirty="0">
                <a:solidFill>
                  <a:srgbClr val="E8E9E6"/>
                </a:solidFill>
                <a:latin typeface="Calibri" pitchFamily="34" charset="0"/>
                <a:ea typeface="Calibri" pitchFamily="34" charset="-122"/>
                <a:cs typeface="Calibri" pitchFamily="34" charset="-120"/>
              </a:rPr>
              <a:t>Full mixer, pedal FX, stems, MP3, MIDI learn.</a:t>
            </a:r>
            <a:endParaRPr lang="en-US" sz="1300" dirty="0"/>
          </a:p>
        </p:txBody>
      </p:sp>
      <p:sp>
        <p:nvSpPr>
          <p:cNvPr id="23" name="Text 21"/>
          <p:cNvSpPr/>
          <p:nvPr/>
        </p:nvSpPr>
        <p:spPr>
          <a:xfrm>
            <a:off x="640080" y="5742432"/>
            <a:ext cx="10911535" cy="457200"/>
          </a:xfrm>
          <a:prstGeom prst="rect">
            <a:avLst/>
          </a:prstGeom>
          <a:noFill/>
          <a:ln/>
        </p:spPr>
        <p:txBody>
          <a:bodyPr wrap="square" lIns="0" tIns="0" rIns="0" bIns="0" rtlCol="0" anchor="ctr"/>
          <a:lstStyle/>
          <a:p>
            <a:pPr algn="ctr" indent="0" marL="0">
              <a:buNone/>
            </a:pPr>
            <a:r>
              <a:rPr lang="en-US" sz="1500" b="1" dirty="0">
                <a:solidFill>
                  <a:srgbClr val="FF5C1F"/>
                </a:solidFill>
                <a:latin typeface="Calibri" pitchFamily="34" charset="0"/>
                <a:ea typeface="Calibri" pitchFamily="34" charset="-122"/>
                <a:cs typeface="Calibri" pitchFamily="34" charset="-120"/>
              </a:rPr>
              <a:t>Nothing is ever locked. A kid picks their own stage — every time, on every song.</a:t>
            </a:r>
            <a:endParaRPr lang="en-US" sz="1500" dirty="0"/>
          </a:p>
        </p:txBody>
      </p:sp>
      <p:sp>
        <p:nvSpPr>
          <p:cNvPr id="24" name="Text 22"/>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B9BBB6"/>
                </a:solidFill>
                <a:latin typeface="Calibri" pitchFamily="34" charset="0"/>
                <a:ea typeface="Calibri" pitchFamily="34" charset="-122"/>
                <a:cs typeface="Calibri" pitchFamily="34" charset="-120"/>
              </a:rPr>
              <a:t>PLAYTAPE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CE8"/>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787A76"/>
                </a:solidFill>
                <a:latin typeface="Calibri" pitchFamily="34" charset="0"/>
                <a:ea typeface="Calibri" pitchFamily="34" charset="-122"/>
                <a:cs typeface="Calibri" pitchFamily="34" charset="-120"/>
              </a:rPr>
              <a:t>DESIGN PHILOSOPHY</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232428"/>
                </a:solidFill>
                <a:latin typeface="Calibri" pitchFamily="34" charset="0"/>
                <a:ea typeface="Calibri" pitchFamily="34" charset="-122"/>
                <a:cs typeface="Calibri" pitchFamily="34" charset="-120"/>
              </a:rPr>
              <a:t>Built around Montessori principles, not decoration</a:t>
            </a:r>
            <a:endParaRPr lang="en-US" sz="3000" dirty="0"/>
          </a:p>
        </p:txBody>
      </p:sp>
      <p:sp>
        <p:nvSpPr>
          <p:cNvPr id="5" name="Shape 3"/>
          <p:cNvSpPr/>
          <p:nvPr/>
        </p:nvSpPr>
        <p:spPr>
          <a:xfrm>
            <a:off x="640080" y="2103120"/>
            <a:ext cx="566928" cy="566928"/>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6" name="Image 0" descr="preencoded.png"/>
          <p:cNvPicPr>
            <a:picLocks noChangeAspect="1"/>
          </p:cNvPicPr>
          <p:nvPr/>
        </p:nvPicPr>
        <p:blipFill>
          <a:blip r:embed="rId1"/>
          <a:stretch>
            <a:fillRect/>
          </a:stretch>
        </p:blipFill>
        <p:spPr>
          <a:xfrm>
            <a:off x="776143" y="2239183"/>
            <a:ext cx="294803" cy="294803"/>
          </a:xfrm>
          <a:prstGeom prst="rect">
            <a:avLst/>
          </a:prstGeom>
        </p:spPr>
      </p:pic>
      <p:sp>
        <p:nvSpPr>
          <p:cNvPr id="7" name="Text 4"/>
          <p:cNvSpPr/>
          <p:nvPr/>
        </p:nvSpPr>
        <p:spPr>
          <a:xfrm>
            <a:off x="1417320" y="1828800"/>
            <a:ext cx="10088575" cy="292608"/>
          </a:xfrm>
          <a:prstGeom prst="rect">
            <a:avLst/>
          </a:prstGeom>
          <a:noFill/>
          <a:ln/>
        </p:spPr>
        <p:txBody>
          <a:bodyPr wrap="square" lIns="0" tIns="0" rIns="0" bIns="0" rtlCol="0" anchor="b"/>
          <a:lstStyle/>
          <a:p>
            <a:pPr indent="0" marL="0">
              <a:buNone/>
            </a:pPr>
            <a:r>
              <a:rPr lang="en-US" sz="1500" b="1" dirty="0">
                <a:solidFill>
                  <a:srgbClr val="232428"/>
                </a:solidFill>
                <a:latin typeface="Calibri" pitchFamily="34" charset="0"/>
                <a:ea typeface="Calibri" pitchFamily="34" charset="-122"/>
                <a:cs typeface="Calibri" pitchFamily="34" charset="-120"/>
              </a:rPr>
              <a:t>Self-directed progression</a:t>
            </a:r>
            <a:endParaRPr lang="en-US" sz="1500" dirty="0"/>
          </a:p>
        </p:txBody>
      </p:sp>
      <p:sp>
        <p:nvSpPr>
          <p:cNvPr id="8" name="Text 5"/>
          <p:cNvSpPr/>
          <p:nvPr/>
        </p:nvSpPr>
        <p:spPr>
          <a:xfrm>
            <a:off x="1417320" y="2121408"/>
            <a:ext cx="10088575" cy="804672"/>
          </a:xfrm>
          <a:prstGeom prst="rect">
            <a:avLst/>
          </a:prstGeom>
          <a:noFill/>
          <a:ln/>
        </p:spPr>
        <p:txBody>
          <a:bodyPr wrap="square" lIns="0" tIns="0" rIns="0" bIns="0" rtlCol="0" anchor="t"/>
          <a:lstStyle/>
          <a:p>
            <a:pPr indent="0" marL="0">
              <a:lnSpc>
                <a:spcPct val="105000"/>
              </a:lnSpc>
              <a:buNone/>
            </a:pPr>
            <a:r>
              <a:rPr lang="en-US" sz="1200" dirty="0">
                <a:solidFill>
                  <a:srgbClr val="787A76"/>
                </a:solidFill>
                <a:latin typeface="Calibri" pitchFamily="34" charset="0"/>
                <a:ea typeface="Calibri" pitchFamily="34" charset="-122"/>
                <a:cs typeface="Calibri" pitchFamily="34" charset="-120"/>
              </a:rPr>
              <a:t>The kid chooses their own stage, every time — it's a filter on the UI, not a gate to unlock.</a:t>
            </a:r>
            <a:endParaRPr lang="en-US" sz="1200" dirty="0"/>
          </a:p>
        </p:txBody>
      </p:sp>
      <p:sp>
        <p:nvSpPr>
          <p:cNvPr id="9" name="Shape 6"/>
          <p:cNvSpPr/>
          <p:nvPr/>
        </p:nvSpPr>
        <p:spPr>
          <a:xfrm>
            <a:off x="640080" y="3218688"/>
            <a:ext cx="566928" cy="566928"/>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0" name="Image 1" descr="preencoded.png"/>
          <p:cNvPicPr>
            <a:picLocks noChangeAspect="1"/>
          </p:cNvPicPr>
          <p:nvPr/>
        </p:nvPicPr>
        <p:blipFill>
          <a:blip r:embed="rId2"/>
          <a:stretch>
            <a:fillRect/>
          </a:stretch>
        </p:blipFill>
        <p:spPr>
          <a:xfrm>
            <a:off x="776143" y="3354751"/>
            <a:ext cx="294803" cy="294803"/>
          </a:xfrm>
          <a:prstGeom prst="rect">
            <a:avLst/>
          </a:prstGeom>
        </p:spPr>
      </p:pic>
      <p:sp>
        <p:nvSpPr>
          <p:cNvPr id="11" name="Text 7"/>
          <p:cNvSpPr/>
          <p:nvPr/>
        </p:nvSpPr>
        <p:spPr>
          <a:xfrm>
            <a:off x="1417320" y="2944368"/>
            <a:ext cx="10088575" cy="292608"/>
          </a:xfrm>
          <a:prstGeom prst="rect">
            <a:avLst/>
          </a:prstGeom>
          <a:noFill/>
          <a:ln/>
        </p:spPr>
        <p:txBody>
          <a:bodyPr wrap="square" lIns="0" tIns="0" rIns="0" bIns="0" rtlCol="0" anchor="b"/>
          <a:lstStyle/>
          <a:p>
            <a:pPr indent="0" marL="0">
              <a:buNone/>
            </a:pPr>
            <a:r>
              <a:rPr lang="en-US" sz="1500" b="1" dirty="0">
                <a:solidFill>
                  <a:srgbClr val="232428"/>
                </a:solidFill>
                <a:latin typeface="Calibri" pitchFamily="34" charset="0"/>
                <a:ea typeface="Calibri" pitchFamily="34" charset="-122"/>
                <a:cs typeface="Calibri" pitchFamily="34" charset="-120"/>
              </a:rPr>
              <a:t>Isolation of difficulty</a:t>
            </a:r>
            <a:endParaRPr lang="en-US" sz="1500" dirty="0"/>
          </a:p>
        </p:txBody>
      </p:sp>
      <p:sp>
        <p:nvSpPr>
          <p:cNvPr id="12" name="Text 8"/>
          <p:cNvSpPr/>
          <p:nvPr/>
        </p:nvSpPr>
        <p:spPr>
          <a:xfrm>
            <a:off x="1417320" y="3236976"/>
            <a:ext cx="10088575" cy="804672"/>
          </a:xfrm>
          <a:prstGeom prst="rect">
            <a:avLst/>
          </a:prstGeom>
          <a:noFill/>
          <a:ln/>
        </p:spPr>
        <p:txBody>
          <a:bodyPr wrap="square" lIns="0" tIns="0" rIns="0" bIns="0" rtlCol="0" anchor="t"/>
          <a:lstStyle/>
          <a:p>
            <a:pPr indent="0" marL="0">
              <a:lnSpc>
                <a:spcPct val="105000"/>
              </a:lnSpc>
              <a:buNone/>
            </a:pPr>
            <a:r>
              <a:rPr lang="en-US" sz="1200" dirty="0">
                <a:solidFill>
                  <a:srgbClr val="787A76"/>
                </a:solidFill>
                <a:latin typeface="Calibri" pitchFamily="34" charset="0"/>
                <a:ea typeface="Calibri" pitchFamily="34" charset="-122"/>
                <a:cs typeface="Calibri" pitchFamily="34" charset="-120"/>
              </a:rPr>
              <a:t>Play stage is just record + listen. Nothing else is on screen to accidentally break.</a:t>
            </a:r>
            <a:endParaRPr lang="en-US" sz="1200" dirty="0"/>
          </a:p>
        </p:txBody>
      </p:sp>
      <p:sp>
        <p:nvSpPr>
          <p:cNvPr id="13" name="Shape 9"/>
          <p:cNvSpPr/>
          <p:nvPr/>
        </p:nvSpPr>
        <p:spPr>
          <a:xfrm>
            <a:off x="640080" y="4334256"/>
            <a:ext cx="566928" cy="566928"/>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4" name="Image 2" descr="preencoded.png"/>
          <p:cNvPicPr>
            <a:picLocks noChangeAspect="1"/>
          </p:cNvPicPr>
          <p:nvPr/>
        </p:nvPicPr>
        <p:blipFill>
          <a:blip r:embed="rId3"/>
          <a:stretch>
            <a:fillRect/>
          </a:stretch>
        </p:blipFill>
        <p:spPr>
          <a:xfrm>
            <a:off x="776143" y="4470319"/>
            <a:ext cx="294803" cy="294803"/>
          </a:xfrm>
          <a:prstGeom prst="rect">
            <a:avLst/>
          </a:prstGeom>
        </p:spPr>
      </p:pic>
      <p:sp>
        <p:nvSpPr>
          <p:cNvPr id="15" name="Text 10"/>
          <p:cNvSpPr/>
          <p:nvPr/>
        </p:nvSpPr>
        <p:spPr>
          <a:xfrm>
            <a:off x="1417320" y="4059936"/>
            <a:ext cx="10088575" cy="292608"/>
          </a:xfrm>
          <a:prstGeom prst="rect">
            <a:avLst/>
          </a:prstGeom>
          <a:noFill/>
          <a:ln/>
        </p:spPr>
        <p:txBody>
          <a:bodyPr wrap="square" lIns="0" tIns="0" rIns="0" bIns="0" rtlCol="0" anchor="b"/>
          <a:lstStyle/>
          <a:p>
            <a:pPr indent="0" marL="0">
              <a:buNone/>
            </a:pPr>
            <a:r>
              <a:rPr lang="en-US" sz="1500" b="1" dirty="0">
                <a:solidFill>
                  <a:srgbClr val="232428"/>
                </a:solidFill>
                <a:latin typeface="Calibri" pitchFamily="34" charset="0"/>
                <a:ea typeface="Calibri" pitchFamily="34" charset="-122"/>
                <a:cs typeface="Calibri" pitchFamily="34" charset="-120"/>
              </a:rPr>
              <a:t>Control of error</a:t>
            </a:r>
            <a:endParaRPr lang="en-US" sz="1500" dirty="0"/>
          </a:p>
        </p:txBody>
      </p:sp>
      <p:sp>
        <p:nvSpPr>
          <p:cNvPr id="16" name="Text 11"/>
          <p:cNvSpPr/>
          <p:nvPr/>
        </p:nvSpPr>
        <p:spPr>
          <a:xfrm>
            <a:off x="1417320" y="4352544"/>
            <a:ext cx="10088575" cy="804672"/>
          </a:xfrm>
          <a:prstGeom prst="rect">
            <a:avLst/>
          </a:prstGeom>
          <a:noFill/>
          <a:ln/>
        </p:spPr>
        <p:txBody>
          <a:bodyPr wrap="square" lIns="0" tIns="0" rIns="0" bIns="0" rtlCol="0" anchor="t"/>
          <a:lstStyle/>
          <a:p>
            <a:pPr indent="0" marL="0">
              <a:lnSpc>
                <a:spcPct val="105000"/>
              </a:lnSpc>
              <a:buNone/>
            </a:pPr>
            <a:r>
              <a:rPr lang="en-US" sz="1200" dirty="0">
                <a:solidFill>
                  <a:srgbClr val="787A76"/>
                </a:solidFill>
                <a:latin typeface="Calibri" pitchFamily="34" charset="0"/>
                <a:ea typeface="Calibri" pitchFamily="34" charset="-122"/>
                <a:cs typeface="Calibri" pitchFamily="34" charset="-120"/>
              </a:rPr>
              <a:t>Every action undoes. Nothing is destructive — mistakes are just a Ctrl+Z away.</a:t>
            </a:r>
            <a:endParaRPr lang="en-US" sz="1200" dirty="0"/>
          </a:p>
        </p:txBody>
      </p:sp>
      <p:sp>
        <p:nvSpPr>
          <p:cNvPr id="17" name="Shape 12"/>
          <p:cNvSpPr/>
          <p:nvPr/>
        </p:nvSpPr>
        <p:spPr>
          <a:xfrm>
            <a:off x="640080" y="5449824"/>
            <a:ext cx="566928" cy="566928"/>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8" name="Image 3" descr="preencoded.png"/>
          <p:cNvPicPr>
            <a:picLocks noChangeAspect="1"/>
          </p:cNvPicPr>
          <p:nvPr/>
        </p:nvPicPr>
        <p:blipFill>
          <a:blip r:embed="rId4"/>
          <a:stretch>
            <a:fillRect/>
          </a:stretch>
        </p:blipFill>
        <p:spPr>
          <a:xfrm>
            <a:off x="776143" y="5585887"/>
            <a:ext cx="294803" cy="294803"/>
          </a:xfrm>
          <a:prstGeom prst="rect">
            <a:avLst/>
          </a:prstGeom>
        </p:spPr>
      </p:pic>
      <p:sp>
        <p:nvSpPr>
          <p:cNvPr id="19" name="Text 13"/>
          <p:cNvSpPr/>
          <p:nvPr/>
        </p:nvSpPr>
        <p:spPr>
          <a:xfrm>
            <a:off x="1417320" y="5175504"/>
            <a:ext cx="10088575" cy="292608"/>
          </a:xfrm>
          <a:prstGeom prst="rect">
            <a:avLst/>
          </a:prstGeom>
          <a:noFill/>
          <a:ln/>
        </p:spPr>
        <p:txBody>
          <a:bodyPr wrap="square" lIns="0" tIns="0" rIns="0" bIns="0" rtlCol="0" anchor="b"/>
          <a:lstStyle/>
          <a:p>
            <a:pPr indent="0" marL="0">
              <a:buNone/>
            </a:pPr>
            <a:r>
              <a:rPr lang="en-US" sz="1500" b="1" dirty="0">
                <a:solidFill>
                  <a:srgbClr val="232428"/>
                </a:solidFill>
                <a:latin typeface="Calibri" pitchFamily="34" charset="0"/>
                <a:ea typeface="Calibri" pitchFamily="34" charset="-122"/>
                <a:cs typeface="Calibri" pitchFamily="34" charset="-120"/>
              </a:rPr>
              <a:t>One small reward, on purpose</a:t>
            </a:r>
            <a:endParaRPr lang="en-US" sz="1500" dirty="0"/>
          </a:p>
        </p:txBody>
      </p:sp>
      <p:sp>
        <p:nvSpPr>
          <p:cNvPr id="20" name="Text 14"/>
          <p:cNvSpPr/>
          <p:nvPr/>
        </p:nvSpPr>
        <p:spPr>
          <a:xfrm>
            <a:off x="1417320" y="5468112"/>
            <a:ext cx="10088575" cy="804672"/>
          </a:xfrm>
          <a:prstGeom prst="rect">
            <a:avLst/>
          </a:prstGeom>
          <a:noFill/>
          <a:ln/>
        </p:spPr>
        <p:txBody>
          <a:bodyPr wrap="square" lIns="0" tIns="0" rIns="0" bIns="0" rtlCol="0" anchor="t"/>
          <a:lstStyle/>
          <a:p>
            <a:pPr indent="0" marL="0">
              <a:lnSpc>
                <a:spcPct val="105000"/>
              </a:lnSpc>
              <a:buNone/>
            </a:pPr>
            <a:r>
              <a:rPr lang="en-US" sz="1200" dirty="0">
                <a:solidFill>
                  <a:srgbClr val="787A76"/>
                </a:solidFill>
                <a:latin typeface="Calibri" pitchFamily="34" charset="0"/>
                <a:ea typeface="Calibri" pitchFamily="34" charset="-122"/>
                <a:cs typeface="Calibri" pitchFamily="34" charset="-120"/>
              </a:rPr>
              <a:t>A finished song earns a foil sticker. No points, no streaks, no popups — that's the whole system.</a:t>
            </a:r>
            <a:endParaRPr lang="en-US" sz="1200" dirty="0"/>
          </a:p>
        </p:txBody>
      </p:sp>
      <p:sp>
        <p:nvSpPr>
          <p:cNvPr id="21" name="Text 15"/>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B9BBB6"/>
                </a:solidFill>
                <a:latin typeface="Calibri" pitchFamily="34" charset="0"/>
                <a:ea typeface="Calibri" pitchFamily="34" charset="-122"/>
                <a:cs typeface="Calibri" pitchFamily="34" charset="-120"/>
              </a:rPr>
              <a:t>PLAYTAPE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CE8"/>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787A76"/>
                </a:solidFill>
                <a:latin typeface="Calibri" pitchFamily="34" charset="0"/>
                <a:ea typeface="Calibri" pitchFamily="34" charset="-122"/>
                <a:cs typeface="Calibri" pitchFamily="34" charset="-120"/>
              </a:rPr>
              <a:t>ACCESSIBILITY</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232428"/>
                </a:solidFill>
                <a:latin typeface="Calibri" pitchFamily="34" charset="0"/>
                <a:ea typeface="Calibri" pitchFamily="34" charset="-122"/>
                <a:cs typeface="Calibri" pitchFamily="34" charset="-120"/>
              </a:rPr>
              <a:t>Neurodivergent-first, not bolted on afterward</a:t>
            </a:r>
            <a:endParaRPr lang="en-US" sz="3000" dirty="0"/>
          </a:p>
        </p:txBody>
      </p:sp>
      <p:sp>
        <p:nvSpPr>
          <p:cNvPr id="5" name="Shape 3"/>
          <p:cNvSpPr/>
          <p:nvPr/>
        </p:nvSpPr>
        <p:spPr>
          <a:xfrm>
            <a:off x="640080" y="2103120"/>
            <a:ext cx="566928" cy="566928"/>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6" name="Image 0" descr="preencoded.png"/>
          <p:cNvPicPr>
            <a:picLocks noChangeAspect="1"/>
          </p:cNvPicPr>
          <p:nvPr/>
        </p:nvPicPr>
        <p:blipFill>
          <a:blip r:embed="rId1"/>
          <a:stretch>
            <a:fillRect/>
          </a:stretch>
        </p:blipFill>
        <p:spPr>
          <a:xfrm>
            <a:off x="776143" y="2239183"/>
            <a:ext cx="294803" cy="294803"/>
          </a:xfrm>
          <a:prstGeom prst="rect">
            <a:avLst/>
          </a:prstGeom>
        </p:spPr>
      </p:pic>
      <p:sp>
        <p:nvSpPr>
          <p:cNvPr id="7" name="Text 4"/>
          <p:cNvSpPr/>
          <p:nvPr/>
        </p:nvSpPr>
        <p:spPr>
          <a:xfrm>
            <a:off x="1417320" y="1828800"/>
            <a:ext cx="10088575" cy="292608"/>
          </a:xfrm>
          <a:prstGeom prst="rect">
            <a:avLst/>
          </a:prstGeom>
          <a:noFill/>
          <a:ln/>
        </p:spPr>
        <p:txBody>
          <a:bodyPr wrap="square" lIns="0" tIns="0" rIns="0" bIns="0" rtlCol="0" anchor="b"/>
          <a:lstStyle/>
          <a:p>
            <a:pPr indent="0" marL="0">
              <a:buNone/>
            </a:pPr>
            <a:r>
              <a:rPr lang="en-US" sz="1500" b="1" dirty="0">
                <a:solidFill>
                  <a:srgbClr val="232428"/>
                </a:solidFill>
                <a:latin typeface="Calibri" pitchFamily="34" charset="0"/>
                <a:ea typeface="Calibri" pitchFamily="34" charset="-122"/>
                <a:cs typeface="Calibri" pitchFamily="34" charset="-120"/>
              </a:rPr>
              <a:t>Calm Mode</a:t>
            </a:r>
            <a:endParaRPr lang="en-US" sz="1500" dirty="0"/>
          </a:p>
        </p:txBody>
      </p:sp>
      <p:sp>
        <p:nvSpPr>
          <p:cNvPr id="8" name="Text 5"/>
          <p:cNvSpPr/>
          <p:nvPr/>
        </p:nvSpPr>
        <p:spPr>
          <a:xfrm>
            <a:off x="1417320" y="2121408"/>
            <a:ext cx="10088575" cy="804672"/>
          </a:xfrm>
          <a:prstGeom prst="rect">
            <a:avLst/>
          </a:prstGeom>
          <a:noFill/>
          <a:ln/>
        </p:spPr>
        <p:txBody>
          <a:bodyPr wrap="square" lIns="0" tIns="0" rIns="0" bIns="0" rtlCol="0" anchor="t"/>
          <a:lstStyle/>
          <a:p>
            <a:pPr indent="0" marL="0">
              <a:lnSpc>
                <a:spcPct val="105000"/>
              </a:lnSpc>
              <a:buNone/>
            </a:pPr>
            <a:r>
              <a:rPr lang="en-US" sz="1200" dirty="0">
                <a:solidFill>
                  <a:srgbClr val="787A76"/>
                </a:solidFill>
                <a:latin typeface="Calibri" pitchFamily="34" charset="0"/>
                <a:ea typeface="Calibri" pitchFamily="34" charset="-122"/>
                <a:cs typeface="Calibri" pitchFamily="34" charset="-120"/>
              </a:rPr>
              <a:t>Kills every animation and blinking light in the app, and honors your OS's reduce-motion setting automatically.</a:t>
            </a:r>
            <a:endParaRPr lang="en-US" sz="1200" dirty="0"/>
          </a:p>
        </p:txBody>
      </p:sp>
      <p:sp>
        <p:nvSpPr>
          <p:cNvPr id="9" name="Shape 6"/>
          <p:cNvSpPr/>
          <p:nvPr/>
        </p:nvSpPr>
        <p:spPr>
          <a:xfrm>
            <a:off x="640080" y="3218688"/>
            <a:ext cx="566928" cy="566928"/>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0" name="Image 1" descr="preencoded.png"/>
          <p:cNvPicPr>
            <a:picLocks noChangeAspect="1"/>
          </p:cNvPicPr>
          <p:nvPr/>
        </p:nvPicPr>
        <p:blipFill>
          <a:blip r:embed="rId2"/>
          <a:stretch>
            <a:fillRect/>
          </a:stretch>
        </p:blipFill>
        <p:spPr>
          <a:xfrm>
            <a:off x="776143" y="3354751"/>
            <a:ext cx="294803" cy="294803"/>
          </a:xfrm>
          <a:prstGeom prst="rect">
            <a:avLst/>
          </a:prstGeom>
        </p:spPr>
      </p:pic>
      <p:sp>
        <p:nvSpPr>
          <p:cNvPr id="11" name="Text 7"/>
          <p:cNvSpPr/>
          <p:nvPr/>
        </p:nvSpPr>
        <p:spPr>
          <a:xfrm>
            <a:off x="1417320" y="2944368"/>
            <a:ext cx="10088575" cy="292608"/>
          </a:xfrm>
          <a:prstGeom prst="rect">
            <a:avLst/>
          </a:prstGeom>
          <a:noFill/>
          <a:ln/>
        </p:spPr>
        <p:txBody>
          <a:bodyPr wrap="square" lIns="0" tIns="0" rIns="0" bIns="0" rtlCol="0" anchor="b"/>
          <a:lstStyle/>
          <a:p>
            <a:pPr indent="0" marL="0">
              <a:buNone/>
            </a:pPr>
            <a:r>
              <a:rPr lang="en-US" sz="1500" b="1" dirty="0">
                <a:solidFill>
                  <a:srgbClr val="232428"/>
                </a:solidFill>
                <a:latin typeface="Calibri" pitchFamily="34" charset="0"/>
                <a:ea typeface="Calibri" pitchFamily="34" charset="-122"/>
                <a:cs typeface="Calibri" pitchFamily="34" charset="-120"/>
              </a:rPr>
              <a:t>A loudness ceiling, always on</a:t>
            </a:r>
            <a:endParaRPr lang="en-US" sz="1500" dirty="0"/>
          </a:p>
        </p:txBody>
      </p:sp>
      <p:sp>
        <p:nvSpPr>
          <p:cNvPr id="12" name="Text 8"/>
          <p:cNvSpPr/>
          <p:nvPr/>
        </p:nvSpPr>
        <p:spPr>
          <a:xfrm>
            <a:off x="1417320" y="3236976"/>
            <a:ext cx="10088575" cy="804672"/>
          </a:xfrm>
          <a:prstGeom prst="rect">
            <a:avLst/>
          </a:prstGeom>
          <a:noFill/>
          <a:ln/>
        </p:spPr>
        <p:txBody>
          <a:bodyPr wrap="square" lIns="0" tIns="0" rIns="0" bIns="0" rtlCol="0" anchor="t"/>
          <a:lstStyle/>
          <a:p>
            <a:pPr indent="0" marL="0">
              <a:lnSpc>
                <a:spcPct val="105000"/>
              </a:lnSpc>
              <a:buNone/>
            </a:pPr>
            <a:r>
              <a:rPr lang="en-US" sz="1200" dirty="0">
                <a:solidFill>
                  <a:srgbClr val="787A76"/>
                </a:solidFill>
                <a:latin typeface="Calibri" pitchFamily="34" charset="0"/>
                <a:ea typeface="Calibri" pitchFamily="34" charset="-122"/>
                <a:cs typeface="Calibri" pitchFamily="34" charset="-120"/>
              </a:rPr>
              <a:t>A limiter runs unconditionally — nothing can suddenly get painfully loud, by design, not as a setting.</a:t>
            </a:r>
            <a:endParaRPr lang="en-US" sz="1200" dirty="0"/>
          </a:p>
        </p:txBody>
      </p:sp>
      <p:sp>
        <p:nvSpPr>
          <p:cNvPr id="13" name="Shape 9"/>
          <p:cNvSpPr/>
          <p:nvPr/>
        </p:nvSpPr>
        <p:spPr>
          <a:xfrm>
            <a:off x="640080" y="4334256"/>
            <a:ext cx="566928" cy="566928"/>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4" name="Image 2" descr="preencoded.png"/>
          <p:cNvPicPr>
            <a:picLocks noChangeAspect="1"/>
          </p:cNvPicPr>
          <p:nvPr/>
        </p:nvPicPr>
        <p:blipFill>
          <a:blip r:embed="rId3"/>
          <a:stretch>
            <a:fillRect/>
          </a:stretch>
        </p:blipFill>
        <p:spPr>
          <a:xfrm>
            <a:off x="776143" y="4470319"/>
            <a:ext cx="294803" cy="294803"/>
          </a:xfrm>
          <a:prstGeom prst="rect">
            <a:avLst/>
          </a:prstGeom>
        </p:spPr>
      </p:pic>
      <p:sp>
        <p:nvSpPr>
          <p:cNvPr id="15" name="Text 10"/>
          <p:cNvSpPr/>
          <p:nvPr/>
        </p:nvSpPr>
        <p:spPr>
          <a:xfrm>
            <a:off x="1417320" y="4059936"/>
            <a:ext cx="10088575" cy="292608"/>
          </a:xfrm>
          <a:prstGeom prst="rect">
            <a:avLst/>
          </a:prstGeom>
          <a:noFill/>
          <a:ln/>
        </p:spPr>
        <p:txBody>
          <a:bodyPr wrap="square" lIns="0" tIns="0" rIns="0" bIns="0" rtlCol="0" anchor="b"/>
          <a:lstStyle/>
          <a:p>
            <a:pPr indent="0" marL="0">
              <a:buNone/>
            </a:pPr>
            <a:r>
              <a:rPr lang="en-US" sz="1500" b="1" dirty="0">
                <a:solidFill>
                  <a:srgbClr val="232428"/>
                </a:solidFill>
                <a:latin typeface="Calibri" pitchFamily="34" charset="0"/>
                <a:ea typeface="Calibri" pitchFamily="34" charset="-122"/>
                <a:cs typeface="Calibri" pitchFamily="34" charset="-120"/>
              </a:rPr>
              <a:t>Big, forgiving targets</a:t>
            </a:r>
            <a:endParaRPr lang="en-US" sz="1500" dirty="0"/>
          </a:p>
        </p:txBody>
      </p:sp>
      <p:sp>
        <p:nvSpPr>
          <p:cNvPr id="16" name="Text 11"/>
          <p:cNvSpPr/>
          <p:nvPr/>
        </p:nvSpPr>
        <p:spPr>
          <a:xfrm>
            <a:off x="1417320" y="4352544"/>
            <a:ext cx="10088575" cy="804672"/>
          </a:xfrm>
          <a:prstGeom prst="rect">
            <a:avLst/>
          </a:prstGeom>
          <a:noFill/>
          <a:ln/>
        </p:spPr>
        <p:txBody>
          <a:bodyPr wrap="square" lIns="0" tIns="0" rIns="0" bIns="0" rtlCol="0" anchor="t"/>
          <a:lstStyle/>
          <a:p>
            <a:pPr indent="0" marL="0">
              <a:lnSpc>
                <a:spcPct val="105000"/>
              </a:lnSpc>
              <a:buNone/>
            </a:pPr>
            <a:r>
              <a:rPr lang="en-US" sz="1200" dirty="0">
                <a:solidFill>
                  <a:srgbClr val="787A76"/>
                </a:solidFill>
                <a:latin typeface="Calibri" pitchFamily="34" charset="0"/>
                <a:ea typeface="Calibri" pitchFamily="34" charset="-122"/>
                <a:cs typeface="Calibri" pitchFamily="34" charset="-120"/>
              </a:rPr>
              <a:t>Every control is sized for a hand still learning precision with a mouse or touchscreen.</a:t>
            </a:r>
            <a:endParaRPr lang="en-US" sz="1200" dirty="0"/>
          </a:p>
        </p:txBody>
      </p:sp>
      <p:sp>
        <p:nvSpPr>
          <p:cNvPr id="17" name="Shape 12"/>
          <p:cNvSpPr/>
          <p:nvPr/>
        </p:nvSpPr>
        <p:spPr>
          <a:xfrm>
            <a:off x="640080" y="5449824"/>
            <a:ext cx="566928" cy="566928"/>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8" name="Image 3" descr="preencoded.png"/>
          <p:cNvPicPr>
            <a:picLocks noChangeAspect="1"/>
          </p:cNvPicPr>
          <p:nvPr/>
        </p:nvPicPr>
        <p:blipFill>
          <a:blip r:embed="rId4"/>
          <a:stretch>
            <a:fillRect/>
          </a:stretch>
        </p:blipFill>
        <p:spPr>
          <a:xfrm>
            <a:off x="776143" y="5585887"/>
            <a:ext cx="294803" cy="294803"/>
          </a:xfrm>
          <a:prstGeom prst="rect">
            <a:avLst/>
          </a:prstGeom>
        </p:spPr>
      </p:pic>
      <p:sp>
        <p:nvSpPr>
          <p:cNvPr id="19" name="Text 13"/>
          <p:cNvSpPr/>
          <p:nvPr/>
        </p:nvSpPr>
        <p:spPr>
          <a:xfrm>
            <a:off x="1417320" y="5175504"/>
            <a:ext cx="10088575" cy="292608"/>
          </a:xfrm>
          <a:prstGeom prst="rect">
            <a:avLst/>
          </a:prstGeom>
          <a:noFill/>
          <a:ln/>
        </p:spPr>
        <p:txBody>
          <a:bodyPr wrap="square" lIns="0" tIns="0" rIns="0" bIns="0" rtlCol="0" anchor="b"/>
          <a:lstStyle/>
          <a:p>
            <a:pPr indent="0" marL="0">
              <a:buNone/>
            </a:pPr>
            <a:r>
              <a:rPr lang="en-US" sz="1500" b="1" dirty="0">
                <a:solidFill>
                  <a:srgbClr val="232428"/>
                </a:solidFill>
                <a:latin typeface="Calibri" pitchFamily="34" charset="0"/>
                <a:ea typeface="Calibri" pitchFamily="34" charset="-122"/>
                <a:cs typeface="Calibri" pitchFamily="34" charset="-120"/>
              </a:rPr>
              <a:t>A layout that holds still</a:t>
            </a:r>
            <a:endParaRPr lang="en-US" sz="1500" dirty="0"/>
          </a:p>
        </p:txBody>
      </p:sp>
      <p:sp>
        <p:nvSpPr>
          <p:cNvPr id="20" name="Text 14"/>
          <p:cNvSpPr/>
          <p:nvPr/>
        </p:nvSpPr>
        <p:spPr>
          <a:xfrm>
            <a:off x="1417320" y="5468112"/>
            <a:ext cx="10088575" cy="804672"/>
          </a:xfrm>
          <a:prstGeom prst="rect">
            <a:avLst/>
          </a:prstGeom>
          <a:noFill/>
          <a:ln/>
        </p:spPr>
        <p:txBody>
          <a:bodyPr wrap="square" lIns="0" tIns="0" rIns="0" bIns="0" rtlCol="0" anchor="t"/>
          <a:lstStyle/>
          <a:p>
            <a:pPr indent="0" marL="0">
              <a:lnSpc>
                <a:spcPct val="105000"/>
              </a:lnSpc>
              <a:buNone/>
            </a:pPr>
            <a:r>
              <a:rPr lang="en-US" sz="1200" dirty="0">
                <a:solidFill>
                  <a:srgbClr val="787A76"/>
                </a:solidFill>
                <a:latin typeface="Calibri" pitchFamily="34" charset="0"/>
                <a:ea typeface="Calibri" pitchFamily="34" charset="-122"/>
                <a:cs typeface="Calibri" pitchFamily="34" charset="-120"/>
              </a:rPr>
              <a:t>Nothing rearranges itself mid-session. What's where stays where.</a:t>
            </a:r>
            <a:endParaRPr lang="en-US" sz="1200" dirty="0"/>
          </a:p>
        </p:txBody>
      </p:sp>
      <p:sp>
        <p:nvSpPr>
          <p:cNvPr id="21" name="Text 15"/>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B9BBB6"/>
                </a:solidFill>
                <a:latin typeface="Calibri" pitchFamily="34" charset="0"/>
                <a:ea typeface="Calibri" pitchFamily="34" charset="-122"/>
                <a:cs typeface="Calibri" pitchFamily="34" charset="-120"/>
              </a:rPr>
              <a:t>PLAYTAPE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CE8"/>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787A76"/>
                </a:solidFill>
                <a:latin typeface="Calibri" pitchFamily="34" charset="0"/>
                <a:ea typeface="Calibri" pitchFamily="34" charset="-122"/>
                <a:cs typeface="Calibri" pitchFamily="34" charset="-120"/>
              </a:rPr>
              <a:t>FEEL</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232428"/>
                </a:solidFill>
                <a:latin typeface="Calibri" pitchFamily="34" charset="0"/>
                <a:ea typeface="Calibri" pitchFamily="34" charset="-122"/>
                <a:cs typeface="Calibri" pitchFamily="34" charset="-120"/>
              </a:rPr>
              <a:t>Controls that feel like something</a:t>
            </a:r>
            <a:endParaRPr lang="en-US" sz="3000" dirty="0"/>
          </a:p>
        </p:txBody>
      </p:sp>
      <p:sp>
        <p:nvSpPr>
          <p:cNvPr id="5" name="Shape 3"/>
          <p:cNvSpPr/>
          <p:nvPr/>
        </p:nvSpPr>
        <p:spPr>
          <a:xfrm>
            <a:off x="640080" y="1828800"/>
            <a:ext cx="5120640" cy="4480560"/>
          </a:xfrm>
          <a:prstGeom prst="roundRect">
            <a:avLst>
              <a:gd name="adj" fmla="val 1837"/>
            </a:avLst>
          </a:prstGeom>
          <a:solidFill>
            <a:srgbClr val="1B1C1F"/>
          </a:solidFill>
          <a:ln/>
          <a:effectLst>
            <a:outerShdw sx="100000" sy="100000" kx="0" ky="0" algn="bl" rotWithShape="0" blurRad="127000" dist="38100" dir="5400000">
              <a:srgbClr val="000000">
                <a:alpha val="16000"/>
              </a:srgbClr>
            </a:outerShdw>
          </a:effectLst>
        </p:spPr>
      </p:sp>
      <p:sp>
        <p:nvSpPr>
          <p:cNvPr id="6" name="Shape 4"/>
          <p:cNvSpPr/>
          <p:nvPr/>
        </p:nvSpPr>
        <p:spPr>
          <a:xfrm rot="13500000">
            <a:off x="1940793" y="5045337"/>
            <a:ext cx="126873" cy="439826"/>
          </a:xfrm>
          <a:prstGeom prst="rect">
            <a:avLst/>
          </a:prstGeom>
          <a:solidFill>
            <a:srgbClr val="FF5C1F"/>
          </a:solidFill>
          <a:ln/>
        </p:spPr>
      </p:sp>
      <p:sp>
        <p:nvSpPr>
          <p:cNvPr id="7" name="Shape 5"/>
          <p:cNvSpPr/>
          <p:nvPr/>
        </p:nvSpPr>
        <p:spPr>
          <a:xfrm rot="14058621">
            <a:off x="1763032" y="4836060"/>
            <a:ext cx="126873" cy="439826"/>
          </a:xfrm>
          <a:prstGeom prst="rect">
            <a:avLst/>
          </a:prstGeom>
          <a:solidFill>
            <a:srgbClr val="FF5C1F"/>
          </a:solidFill>
          <a:ln/>
        </p:spPr>
      </p:sp>
      <p:sp>
        <p:nvSpPr>
          <p:cNvPr id="8" name="Shape 6"/>
          <p:cNvSpPr/>
          <p:nvPr/>
        </p:nvSpPr>
        <p:spPr>
          <a:xfrm rot="14617241">
            <a:off x="1621470" y="4600782"/>
            <a:ext cx="126873" cy="439826"/>
          </a:xfrm>
          <a:prstGeom prst="rect">
            <a:avLst/>
          </a:prstGeom>
          <a:solidFill>
            <a:srgbClr val="FF5C1F"/>
          </a:solidFill>
          <a:ln/>
        </p:spPr>
      </p:sp>
      <p:sp>
        <p:nvSpPr>
          <p:cNvPr id="9" name="Shape 7"/>
          <p:cNvSpPr/>
          <p:nvPr/>
        </p:nvSpPr>
        <p:spPr>
          <a:xfrm rot="15175862">
            <a:off x="1519837" y="4345701"/>
            <a:ext cx="126873" cy="439826"/>
          </a:xfrm>
          <a:prstGeom prst="rect">
            <a:avLst/>
          </a:prstGeom>
          <a:solidFill>
            <a:srgbClr val="FF5C1F"/>
          </a:solidFill>
          <a:ln/>
        </p:spPr>
      </p:sp>
      <p:sp>
        <p:nvSpPr>
          <p:cNvPr id="10" name="Shape 8"/>
          <p:cNvSpPr/>
          <p:nvPr/>
        </p:nvSpPr>
        <p:spPr>
          <a:xfrm rot="15734483">
            <a:off x="1460809" y="4077538"/>
            <a:ext cx="126873" cy="439826"/>
          </a:xfrm>
          <a:prstGeom prst="rect">
            <a:avLst/>
          </a:prstGeom>
          <a:solidFill>
            <a:srgbClr val="FF5C1F"/>
          </a:solidFill>
          <a:ln/>
        </p:spPr>
      </p:sp>
      <p:sp>
        <p:nvSpPr>
          <p:cNvPr id="11" name="Shape 9"/>
          <p:cNvSpPr/>
          <p:nvPr/>
        </p:nvSpPr>
        <p:spPr>
          <a:xfrm rot="16293103">
            <a:off x="1445944" y="3803358"/>
            <a:ext cx="126873" cy="439826"/>
          </a:xfrm>
          <a:prstGeom prst="rect">
            <a:avLst/>
          </a:prstGeom>
          <a:solidFill>
            <a:srgbClr val="FF5C1F"/>
          </a:solidFill>
          <a:ln/>
        </p:spPr>
      </p:sp>
      <p:sp>
        <p:nvSpPr>
          <p:cNvPr id="12" name="Shape 10"/>
          <p:cNvSpPr/>
          <p:nvPr/>
        </p:nvSpPr>
        <p:spPr>
          <a:xfrm rot="16851724">
            <a:off x="1475631" y="3530385"/>
            <a:ext cx="126873" cy="439826"/>
          </a:xfrm>
          <a:prstGeom prst="rect">
            <a:avLst/>
          </a:prstGeom>
          <a:solidFill>
            <a:srgbClr val="FF5C1F"/>
          </a:solidFill>
          <a:ln/>
        </p:spPr>
      </p:sp>
      <p:sp>
        <p:nvSpPr>
          <p:cNvPr id="13" name="Shape 11"/>
          <p:cNvSpPr/>
          <p:nvPr/>
        </p:nvSpPr>
        <p:spPr>
          <a:xfrm rot="17410345">
            <a:off x="1549090" y="3265811"/>
            <a:ext cx="126873" cy="439826"/>
          </a:xfrm>
          <a:prstGeom prst="rect">
            <a:avLst/>
          </a:prstGeom>
          <a:solidFill>
            <a:srgbClr val="FF5C1F"/>
          </a:solidFill>
          <a:ln/>
        </p:spPr>
      </p:sp>
      <p:sp>
        <p:nvSpPr>
          <p:cNvPr id="14" name="Shape 12"/>
          <p:cNvSpPr/>
          <p:nvPr/>
        </p:nvSpPr>
        <p:spPr>
          <a:xfrm rot="17968966">
            <a:off x="1664384" y="3016606"/>
            <a:ext cx="126873" cy="439826"/>
          </a:xfrm>
          <a:prstGeom prst="rect">
            <a:avLst/>
          </a:prstGeom>
          <a:solidFill>
            <a:srgbClr val="FF5C1F"/>
          </a:solidFill>
          <a:ln/>
        </p:spPr>
      </p:sp>
      <p:sp>
        <p:nvSpPr>
          <p:cNvPr id="15" name="Shape 13"/>
          <p:cNvSpPr/>
          <p:nvPr/>
        </p:nvSpPr>
        <p:spPr>
          <a:xfrm rot="18527586">
            <a:off x="1818477" y="2789337"/>
            <a:ext cx="126873" cy="439826"/>
          </a:xfrm>
          <a:prstGeom prst="rect">
            <a:avLst/>
          </a:prstGeom>
          <a:solidFill>
            <a:srgbClr val="FF5C1F"/>
          </a:solidFill>
          <a:ln/>
        </p:spPr>
      </p:sp>
      <p:sp>
        <p:nvSpPr>
          <p:cNvPr id="16" name="Shape 14"/>
          <p:cNvSpPr/>
          <p:nvPr/>
        </p:nvSpPr>
        <p:spPr>
          <a:xfrm rot="19086207">
            <a:off x="2007307" y="2589992"/>
            <a:ext cx="126873" cy="439826"/>
          </a:xfrm>
          <a:prstGeom prst="rect">
            <a:avLst/>
          </a:prstGeom>
          <a:solidFill>
            <a:srgbClr val="FF5C1F"/>
          </a:solidFill>
          <a:ln/>
        </p:spPr>
      </p:sp>
      <p:sp>
        <p:nvSpPr>
          <p:cNvPr id="17" name="Shape 15"/>
          <p:cNvSpPr/>
          <p:nvPr/>
        </p:nvSpPr>
        <p:spPr>
          <a:xfrm rot="19644828">
            <a:off x="2225900" y="2423821"/>
            <a:ext cx="126873" cy="439826"/>
          </a:xfrm>
          <a:prstGeom prst="rect">
            <a:avLst/>
          </a:prstGeom>
          <a:solidFill>
            <a:srgbClr val="FF5C1F"/>
          </a:solidFill>
          <a:ln/>
        </p:spPr>
      </p:sp>
      <p:sp>
        <p:nvSpPr>
          <p:cNvPr id="18" name="Shape 16"/>
          <p:cNvSpPr/>
          <p:nvPr/>
        </p:nvSpPr>
        <p:spPr>
          <a:xfrm rot="20203448">
            <a:off x="2468498" y="2295204"/>
            <a:ext cx="126873" cy="439826"/>
          </a:xfrm>
          <a:prstGeom prst="rect">
            <a:avLst/>
          </a:prstGeom>
          <a:solidFill>
            <a:srgbClr val="FF5C1F"/>
          </a:solidFill>
          <a:ln/>
        </p:spPr>
      </p:sp>
      <p:sp>
        <p:nvSpPr>
          <p:cNvPr id="19" name="Shape 17"/>
          <p:cNvSpPr/>
          <p:nvPr/>
        </p:nvSpPr>
        <p:spPr>
          <a:xfrm rot="20762069">
            <a:off x="2728707" y="2207530"/>
            <a:ext cx="126873" cy="439826"/>
          </a:xfrm>
          <a:prstGeom prst="rect">
            <a:avLst/>
          </a:prstGeom>
          <a:solidFill>
            <a:srgbClr val="FF5C1F"/>
          </a:solidFill>
          <a:ln/>
        </p:spPr>
      </p:sp>
      <p:sp>
        <p:nvSpPr>
          <p:cNvPr id="20" name="Shape 18"/>
          <p:cNvSpPr/>
          <p:nvPr/>
        </p:nvSpPr>
        <p:spPr>
          <a:xfrm rot="21320690">
            <a:off x="2999672" y="2163107"/>
            <a:ext cx="126873" cy="439826"/>
          </a:xfrm>
          <a:prstGeom prst="rect">
            <a:avLst/>
          </a:prstGeom>
          <a:solidFill>
            <a:srgbClr val="FF5C1F"/>
          </a:solidFill>
          <a:ln/>
        </p:spPr>
      </p:sp>
      <p:sp>
        <p:nvSpPr>
          <p:cNvPr id="21" name="Shape 19"/>
          <p:cNvSpPr/>
          <p:nvPr/>
        </p:nvSpPr>
        <p:spPr>
          <a:xfrm rot="279310">
            <a:off x="3274255" y="2163107"/>
            <a:ext cx="126873" cy="439826"/>
          </a:xfrm>
          <a:prstGeom prst="rect">
            <a:avLst/>
          </a:prstGeom>
          <a:solidFill>
            <a:srgbClr val="FF5C1F"/>
          </a:solidFill>
          <a:ln/>
        </p:spPr>
      </p:sp>
      <p:sp>
        <p:nvSpPr>
          <p:cNvPr id="22" name="Shape 20"/>
          <p:cNvSpPr/>
          <p:nvPr/>
        </p:nvSpPr>
        <p:spPr>
          <a:xfrm rot="837931">
            <a:off x="3545220" y="2207530"/>
            <a:ext cx="126873" cy="439826"/>
          </a:xfrm>
          <a:prstGeom prst="rect">
            <a:avLst/>
          </a:prstGeom>
          <a:solidFill>
            <a:srgbClr val="FF5C1F"/>
          </a:solidFill>
          <a:ln/>
        </p:spPr>
      </p:sp>
      <p:sp>
        <p:nvSpPr>
          <p:cNvPr id="23" name="Shape 21"/>
          <p:cNvSpPr/>
          <p:nvPr/>
        </p:nvSpPr>
        <p:spPr>
          <a:xfrm rot="1396552">
            <a:off x="3805429" y="2295204"/>
            <a:ext cx="126873" cy="439826"/>
          </a:xfrm>
          <a:prstGeom prst="rect">
            <a:avLst/>
          </a:prstGeom>
          <a:solidFill>
            <a:srgbClr val="FF5C1F"/>
          </a:solidFill>
          <a:ln/>
        </p:spPr>
      </p:sp>
      <p:sp>
        <p:nvSpPr>
          <p:cNvPr id="24" name="Shape 22"/>
          <p:cNvSpPr/>
          <p:nvPr/>
        </p:nvSpPr>
        <p:spPr>
          <a:xfrm rot="1955172">
            <a:off x="4048027" y="2423821"/>
            <a:ext cx="126873" cy="439826"/>
          </a:xfrm>
          <a:prstGeom prst="rect">
            <a:avLst/>
          </a:prstGeom>
          <a:solidFill>
            <a:srgbClr val="FF5C1F"/>
          </a:solidFill>
          <a:ln/>
        </p:spPr>
      </p:sp>
      <p:sp>
        <p:nvSpPr>
          <p:cNvPr id="25" name="Shape 23"/>
          <p:cNvSpPr/>
          <p:nvPr/>
        </p:nvSpPr>
        <p:spPr>
          <a:xfrm rot="2513793">
            <a:off x="4266620" y="2589992"/>
            <a:ext cx="126873" cy="439826"/>
          </a:xfrm>
          <a:prstGeom prst="rect">
            <a:avLst/>
          </a:prstGeom>
          <a:solidFill>
            <a:srgbClr val="FF5C1F"/>
          </a:solidFill>
          <a:ln/>
        </p:spPr>
      </p:sp>
      <p:sp>
        <p:nvSpPr>
          <p:cNvPr id="26" name="Shape 24"/>
          <p:cNvSpPr/>
          <p:nvPr/>
        </p:nvSpPr>
        <p:spPr>
          <a:xfrm rot="3072414">
            <a:off x="4455450" y="2789337"/>
            <a:ext cx="126873" cy="439826"/>
          </a:xfrm>
          <a:prstGeom prst="rect">
            <a:avLst/>
          </a:prstGeom>
          <a:solidFill>
            <a:srgbClr val="FF5C1F"/>
          </a:solidFill>
          <a:ln/>
        </p:spPr>
      </p:sp>
      <p:sp>
        <p:nvSpPr>
          <p:cNvPr id="27" name="Shape 25"/>
          <p:cNvSpPr/>
          <p:nvPr/>
        </p:nvSpPr>
        <p:spPr>
          <a:xfrm rot="3631034">
            <a:off x="4609543" y="3016606"/>
            <a:ext cx="126873" cy="439826"/>
          </a:xfrm>
          <a:prstGeom prst="rect">
            <a:avLst/>
          </a:prstGeom>
          <a:solidFill>
            <a:srgbClr val="B9BBB6"/>
          </a:solidFill>
          <a:ln/>
        </p:spPr>
      </p:sp>
      <p:sp>
        <p:nvSpPr>
          <p:cNvPr id="28" name="Shape 26"/>
          <p:cNvSpPr/>
          <p:nvPr/>
        </p:nvSpPr>
        <p:spPr>
          <a:xfrm rot="4189655">
            <a:off x="4724837" y="3265811"/>
            <a:ext cx="126873" cy="439826"/>
          </a:xfrm>
          <a:prstGeom prst="rect">
            <a:avLst/>
          </a:prstGeom>
          <a:solidFill>
            <a:srgbClr val="B9BBB6"/>
          </a:solidFill>
          <a:ln/>
        </p:spPr>
      </p:sp>
      <p:sp>
        <p:nvSpPr>
          <p:cNvPr id="29" name="Shape 27"/>
          <p:cNvSpPr/>
          <p:nvPr/>
        </p:nvSpPr>
        <p:spPr>
          <a:xfrm rot="4748276">
            <a:off x="4798296" y="3530385"/>
            <a:ext cx="126873" cy="439826"/>
          </a:xfrm>
          <a:prstGeom prst="rect">
            <a:avLst/>
          </a:prstGeom>
          <a:solidFill>
            <a:srgbClr val="B9BBB6"/>
          </a:solidFill>
          <a:ln/>
        </p:spPr>
      </p:sp>
      <p:sp>
        <p:nvSpPr>
          <p:cNvPr id="30" name="Shape 28"/>
          <p:cNvSpPr/>
          <p:nvPr/>
        </p:nvSpPr>
        <p:spPr>
          <a:xfrm rot="5306897">
            <a:off x="4827983" y="3803358"/>
            <a:ext cx="126873" cy="439826"/>
          </a:xfrm>
          <a:prstGeom prst="rect">
            <a:avLst/>
          </a:prstGeom>
          <a:solidFill>
            <a:srgbClr val="B9BBB6"/>
          </a:solidFill>
          <a:ln/>
        </p:spPr>
      </p:sp>
      <p:sp>
        <p:nvSpPr>
          <p:cNvPr id="31" name="Shape 29"/>
          <p:cNvSpPr/>
          <p:nvPr/>
        </p:nvSpPr>
        <p:spPr>
          <a:xfrm rot="5865517">
            <a:off x="4813118" y="4077538"/>
            <a:ext cx="126873" cy="439826"/>
          </a:xfrm>
          <a:prstGeom prst="rect">
            <a:avLst/>
          </a:prstGeom>
          <a:solidFill>
            <a:srgbClr val="B9BBB6"/>
          </a:solidFill>
          <a:ln/>
        </p:spPr>
      </p:sp>
      <p:sp>
        <p:nvSpPr>
          <p:cNvPr id="32" name="Shape 30"/>
          <p:cNvSpPr/>
          <p:nvPr/>
        </p:nvSpPr>
        <p:spPr>
          <a:xfrm rot="6424138">
            <a:off x="4754090" y="4345701"/>
            <a:ext cx="126873" cy="439826"/>
          </a:xfrm>
          <a:prstGeom prst="rect">
            <a:avLst/>
          </a:prstGeom>
          <a:solidFill>
            <a:srgbClr val="B9BBB6"/>
          </a:solidFill>
          <a:ln/>
        </p:spPr>
      </p:sp>
      <p:sp>
        <p:nvSpPr>
          <p:cNvPr id="33" name="Shape 31"/>
          <p:cNvSpPr/>
          <p:nvPr/>
        </p:nvSpPr>
        <p:spPr>
          <a:xfrm rot="6982759">
            <a:off x="4652457" y="4600782"/>
            <a:ext cx="126873" cy="439826"/>
          </a:xfrm>
          <a:prstGeom prst="rect">
            <a:avLst/>
          </a:prstGeom>
          <a:solidFill>
            <a:srgbClr val="B9BBB6"/>
          </a:solidFill>
          <a:ln/>
        </p:spPr>
      </p:sp>
      <p:sp>
        <p:nvSpPr>
          <p:cNvPr id="34" name="Shape 32"/>
          <p:cNvSpPr/>
          <p:nvPr/>
        </p:nvSpPr>
        <p:spPr>
          <a:xfrm rot="7541379">
            <a:off x="4510895" y="4836060"/>
            <a:ext cx="126873" cy="439826"/>
          </a:xfrm>
          <a:prstGeom prst="rect">
            <a:avLst/>
          </a:prstGeom>
          <a:solidFill>
            <a:srgbClr val="B9BBB6"/>
          </a:solidFill>
          <a:ln/>
        </p:spPr>
      </p:sp>
      <p:sp>
        <p:nvSpPr>
          <p:cNvPr id="35" name="Shape 33"/>
          <p:cNvSpPr/>
          <p:nvPr/>
        </p:nvSpPr>
        <p:spPr>
          <a:xfrm rot="8100000">
            <a:off x="4333134" y="5045337"/>
            <a:ext cx="126873" cy="439826"/>
          </a:xfrm>
          <a:prstGeom prst="rect">
            <a:avLst/>
          </a:prstGeom>
          <a:solidFill>
            <a:srgbClr val="B9BBB6"/>
          </a:solidFill>
          <a:ln/>
        </p:spPr>
      </p:sp>
      <p:sp>
        <p:nvSpPr>
          <p:cNvPr id="36" name="Shape 34"/>
          <p:cNvSpPr/>
          <p:nvPr/>
        </p:nvSpPr>
        <p:spPr>
          <a:xfrm>
            <a:off x="1982419" y="2851099"/>
            <a:ext cx="2435962" cy="2435962"/>
          </a:xfrm>
          <a:prstGeom prst="ellipse">
            <a:avLst/>
          </a:prstGeom>
          <a:solidFill>
            <a:srgbClr val="26272B"/>
          </a:solidFill>
          <a:ln w="12700">
            <a:solidFill>
              <a:srgbClr val="0D0E10"/>
            </a:solidFill>
            <a:prstDash val="solid"/>
          </a:ln>
          <a:effectLst>
            <a:outerShdw sx="100000" sy="100000" kx="0" ky="0" algn="bl" rotWithShape="0" blurRad="177800" dist="63500" dir="5400000">
              <a:srgbClr val="000000">
                <a:alpha val="40000"/>
              </a:srgbClr>
            </a:outerShdw>
          </a:effectLst>
        </p:spPr>
      </p:sp>
      <p:sp>
        <p:nvSpPr>
          <p:cNvPr id="37" name="Shape 35"/>
          <p:cNvSpPr/>
          <p:nvPr/>
        </p:nvSpPr>
        <p:spPr>
          <a:xfrm rot="2916000">
            <a:off x="3517641" y="3299373"/>
            <a:ext cx="152248" cy="845820"/>
          </a:xfrm>
          <a:prstGeom prst="rect">
            <a:avLst/>
          </a:prstGeom>
          <a:solidFill>
            <a:srgbClr val="FF5C1F"/>
          </a:solidFill>
          <a:ln/>
        </p:spPr>
      </p:sp>
      <p:sp>
        <p:nvSpPr>
          <p:cNvPr id="38" name="Text 36"/>
          <p:cNvSpPr/>
          <p:nvPr/>
        </p:nvSpPr>
        <p:spPr>
          <a:xfrm>
            <a:off x="2286000" y="5506974"/>
            <a:ext cx="1828800" cy="274320"/>
          </a:xfrm>
          <a:prstGeom prst="rect">
            <a:avLst/>
          </a:prstGeom>
          <a:noFill/>
          <a:ln/>
        </p:spPr>
        <p:txBody>
          <a:bodyPr wrap="square" rtlCol="0" anchor="ctr"/>
          <a:lstStyle/>
          <a:p>
            <a:pPr algn="ctr" indent="0" marL="0">
              <a:buNone/>
            </a:pPr>
            <a:r>
              <a:rPr lang="en-US" sz="1000" b="1" spc="200" kern="0" dirty="0">
                <a:solidFill>
                  <a:srgbClr val="9A9BA0"/>
                </a:solidFill>
                <a:latin typeface="Calibri" pitchFamily="34" charset="0"/>
                <a:ea typeface="Calibri" pitchFamily="34" charset="-122"/>
                <a:cs typeface="Calibri" pitchFamily="34" charset="-120"/>
              </a:rPr>
              <a:t>LOUD</a:t>
            </a:r>
            <a:endParaRPr lang="en-US" sz="1000" dirty="0"/>
          </a:p>
        </p:txBody>
      </p:sp>
      <p:sp>
        <p:nvSpPr>
          <p:cNvPr id="39" name="Text 37"/>
          <p:cNvSpPr/>
          <p:nvPr/>
        </p:nvSpPr>
        <p:spPr>
          <a:xfrm>
            <a:off x="914400" y="5760720"/>
            <a:ext cx="4572000" cy="457200"/>
          </a:xfrm>
          <a:prstGeom prst="rect">
            <a:avLst/>
          </a:prstGeom>
          <a:noFill/>
          <a:ln/>
        </p:spPr>
        <p:txBody>
          <a:bodyPr wrap="square" lIns="0" tIns="0" rIns="0" bIns="0" rtlCol="0" anchor="ctr"/>
          <a:lstStyle/>
          <a:p>
            <a:pPr algn="ctr" indent="0" marL="0">
              <a:buNone/>
            </a:pPr>
            <a:r>
              <a:rPr lang="en-US" sz="1200" i="1" dirty="0">
                <a:solidFill>
                  <a:srgbClr val="9A9BA0"/>
                </a:solidFill>
                <a:latin typeface="Calibri" pitchFamily="34" charset="0"/>
                <a:ea typeface="Calibri" pitchFamily="34" charset="-122"/>
                <a:cs typeface="Calibri" pitchFamily="34" charset="-120"/>
              </a:rPr>
              <a:t>A real knob, in CSS: knurled ring, click detents, a value arc.</a:t>
            </a:r>
            <a:endParaRPr lang="en-US" sz="1200" dirty="0"/>
          </a:p>
        </p:txBody>
      </p:sp>
      <p:sp>
        <p:nvSpPr>
          <p:cNvPr id="40" name="Shape 38"/>
          <p:cNvSpPr/>
          <p:nvPr/>
        </p:nvSpPr>
        <p:spPr>
          <a:xfrm>
            <a:off x="6035040" y="2253996"/>
            <a:ext cx="566928" cy="566928"/>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41" name="Image 0" descr="preencoded.png"/>
          <p:cNvPicPr>
            <a:picLocks noChangeAspect="1"/>
          </p:cNvPicPr>
          <p:nvPr/>
        </p:nvPicPr>
        <p:blipFill>
          <a:blip r:embed="rId1"/>
          <a:stretch>
            <a:fillRect/>
          </a:stretch>
        </p:blipFill>
        <p:spPr>
          <a:xfrm>
            <a:off x="6171103" y="2390059"/>
            <a:ext cx="294803" cy="294803"/>
          </a:xfrm>
          <a:prstGeom prst="rect">
            <a:avLst/>
          </a:prstGeom>
        </p:spPr>
      </p:pic>
      <p:sp>
        <p:nvSpPr>
          <p:cNvPr id="42" name="Text 39"/>
          <p:cNvSpPr/>
          <p:nvPr/>
        </p:nvSpPr>
        <p:spPr>
          <a:xfrm>
            <a:off x="6812280" y="1920240"/>
            <a:ext cx="4785055" cy="292608"/>
          </a:xfrm>
          <a:prstGeom prst="rect">
            <a:avLst/>
          </a:prstGeom>
          <a:noFill/>
          <a:ln/>
        </p:spPr>
        <p:txBody>
          <a:bodyPr wrap="square" lIns="0" tIns="0" rIns="0" bIns="0" rtlCol="0" anchor="b"/>
          <a:lstStyle/>
          <a:p>
            <a:pPr indent="0" marL="0">
              <a:buNone/>
            </a:pPr>
            <a:r>
              <a:rPr lang="en-US" sz="1500" b="1" dirty="0">
                <a:solidFill>
                  <a:srgbClr val="232428"/>
                </a:solidFill>
                <a:latin typeface="Calibri" pitchFamily="34" charset="0"/>
                <a:ea typeface="Calibri" pitchFamily="34" charset="-122"/>
                <a:cs typeface="Calibri" pitchFamily="34" charset="-120"/>
              </a:rPr>
              <a:t>A ring you can feel</a:t>
            </a:r>
            <a:endParaRPr lang="en-US" sz="1500" dirty="0"/>
          </a:p>
        </p:txBody>
      </p:sp>
      <p:sp>
        <p:nvSpPr>
          <p:cNvPr id="43" name="Text 40"/>
          <p:cNvSpPr/>
          <p:nvPr/>
        </p:nvSpPr>
        <p:spPr>
          <a:xfrm>
            <a:off x="6812280" y="2212848"/>
            <a:ext cx="4785055" cy="923544"/>
          </a:xfrm>
          <a:prstGeom prst="rect">
            <a:avLst/>
          </a:prstGeom>
          <a:noFill/>
          <a:ln/>
        </p:spPr>
        <p:txBody>
          <a:bodyPr wrap="square" lIns="0" tIns="0" rIns="0" bIns="0" rtlCol="0" anchor="t"/>
          <a:lstStyle/>
          <a:p>
            <a:pPr indent="0" marL="0">
              <a:lnSpc>
                <a:spcPct val="105000"/>
              </a:lnSpc>
              <a:buNone/>
            </a:pPr>
            <a:r>
              <a:rPr lang="en-US" sz="1200" dirty="0">
                <a:solidFill>
                  <a:srgbClr val="787A76"/>
                </a:solidFill>
                <a:latin typeface="Calibri" pitchFamily="34" charset="0"/>
                <a:ea typeface="Calibri" pitchFamily="34" charset="-122"/>
                <a:cs typeface="Calibri" pitchFamily="34" charset="-120"/>
              </a:rPr>
              <a:t>Knurled texture, rendered entirely in CSS — no image assets.</a:t>
            </a:r>
            <a:endParaRPr lang="en-US" sz="1200" dirty="0"/>
          </a:p>
        </p:txBody>
      </p:sp>
      <p:sp>
        <p:nvSpPr>
          <p:cNvPr id="44" name="Shape 41"/>
          <p:cNvSpPr/>
          <p:nvPr/>
        </p:nvSpPr>
        <p:spPr>
          <a:xfrm>
            <a:off x="6035040" y="3488436"/>
            <a:ext cx="566928" cy="566928"/>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45" name="Image 1" descr="preencoded.png"/>
          <p:cNvPicPr>
            <a:picLocks noChangeAspect="1"/>
          </p:cNvPicPr>
          <p:nvPr/>
        </p:nvPicPr>
        <p:blipFill>
          <a:blip r:embed="rId2"/>
          <a:stretch>
            <a:fillRect/>
          </a:stretch>
        </p:blipFill>
        <p:spPr>
          <a:xfrm>
            <a:off x="6171103" y="3624499"/>
            <a:ext cx="294803" cy="294803"/>
          </a:xfrm>
          <a:prstGeom prst="rect">
            <a:avLst/>
          </a:prstGeom>
        </p:spPr>
      </p:pic>
      <p:sp>
        <p:nvSpPr>
          <p:cNvPr id="46" name="Text 42"/>
          <p:cNvSpPr/>
          <p:nvPr/>
        </p:nvSpPr>
        <p:spPr>
          <a:xfrm>
            <a:off x="6812280" y="3154680"/>
            <a:ext cx="4785055" cy="292608"/>
          </a:xfrm>
          <a:prstGeom prst="rect">
            <a:avLst/>
          </a:prstGeom>
          <a:noFill/>
          <a:ln/>
        </p:spPr>
        <p:txBody>
          <a:bodyPr wrap="square" lIns="0" tIns="0" rIns="0" bIns="0" rtlCol="0" anchor="b"/>
          <a:lstStyle/>
          <a:p>
            <a:pPr indent="0" marL="0">
              <a:buNone/>
            </a:pPr>
            <a:r>
              <a:rPr lang="en-US" sz="1500" b="1" dirty="0">
                <a:solidFill>
                  <a:srgbClr val="232428"/>
                </a:solidFill>
                <a:latin typeface="Calibri" pitchFamily="34" charset="0"/>
                <a:ea typeface="Calibri" pitchFamily="34" charset="-122"/>
                <a:cs typeface="Calibri" pitchFamily="34" charset="-120"/>
              </a:rPr>
              <a:t>Real detents</a:t>
            </a:r>
            <a:endParaRPr lang="en-US" sz="1500" dirty="0"/>
          </a:p>
        </p:txBody>
      </p:sp>
      <p:sp>
        <p:nvSpPr>
          <p:cNvPr id="47" name="Text 43"/>
          <p:cNvSpPr/>
          <p:nvPr/>
        </p:nvSpPr>
        <p:spPr>
          <a:xfrm>
            <a:off x="6812280" y="3447288"/>
            <a:ext cx="4785055" cy="923544"/>
          </a:xfrm>
          <a:prstGeom prst="rect">
            <a:avLst/>
          </a:prstGeom>
          <a:noFill/>
          <a:ln/>
        </p:spPr>
        <p:txBody>
          <a:bodyPr wrap="square" lIns="0" tIns="0" rIns="0" bIns="0" rtlCol="0" anchor="t"/>
          <a:lstStyle/>
          <a:p>
            <a:pPr indent="0" marL="0">
              <a:lnSpc>
                <a:spcPct val="105000"/>
              </a:lnSpc>
              <a:buNone/>
            </a:pPr>
            <a:r>
              <a:rPr lang="en-US" sz="1200" dirty="0">
                <a:solidFill>
                  <a:srgbClr val="787A76"/>
                </a:solidFill>
                <a:latin typeface="Calibri" pitchFamily="34" charset="0"/>
                <a:ea typeface="Calibri" pitchFamily="34" charset="-122"/>
                <a:cs typeface="Calibri" pitchFamily="34" charset="-120"/>
              </a:rPr>
              <a:t>Clicks through discrete steps and snaps magnetically to its home position.</a:t>
            </a:r>
            <a:endParaRPr lang="en-US" sz="1200" dirty="0"/>
          </a:p>
        </p:txBody>
      </p:sp>
      <p:sp>
        <p:nvSpPr>
          <p:cNvPr id="48" name="Shape 44"/>
          <p:cNvSpPr/>
          <p:nvPr/>
        </p:nvSpPr>
        <p:spPr>
          <a:xfrm>
            <a:off x="6035040" y="4722876"/>
            <a:ext cx="566928" cy="566928"/>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49" name="Image 2" descr="preencoded.png"/>
          <p:cNvPicPr>
            <a:picLocks noChangeAspect="1"/>
          </p:cNvPicPr>
          <p:nvPr/>
        </p:nvPicPr>
        <p:blipFill>
          <a:blip r:embed="rId3"/>
          <a:stretch>
            <a:fillRect/>
          </a:stretch>
        </p:blipFill>
        <p:spPr>
          <a:xfrm>
            <a:off x="6171103" y="4858939"/>
            <a:ext cx="294803" cy="294803"/>
          </a:xfrm>
          <a:prstGeom prst="rect">
            <a:avLst/>
          </a:prstGeom>
        </p:spPr>
      </p:pic>
      <p:sp>
        <p:nvSpPr>
          <p:cNvPr id="50" name="Text 45"/>
          <p:cNvSpPr/>
          <p:nvPr/>
        </p:nvSpPr>
        <p:spPr>
          <a:xfrm>
            <a:off x="6812280" y="4389120"/>
            <a:ext cx="4785055" cy="292608"/>
          </a:xfrm>
          <a:prstGeom prst="rect">
            <a:avLst/>
          </a:prstGeom>
          <a:noFill/>
          <a:ln/>
        </p:spPr>
        <p:txBody>
          <a:bodyPr wrap="square" lIns="0" tIns="0" rIns="0" bIns="0" rtlCol="0" anchor="b"/>
          <a:lstStyle/>
          <a:p>
            <a:pPr indent="0" marL="0">
              <a:buNone/>
            </a:pPr>
            <a:r>
              <a:rPr lang="en-US" sz="1500" b="1" dirty="0">
                <a:solidFill>
                  <a:srgbClr val="232428"/>
                </a:solidFill>
                <a:latin typeface="Calibri" pitchFamily="34" charset="0"/>
                <a:ea typeface="Calibri" pitchFamily="34" charset="-122"/>
                <a:cs typeface="Calibri" pitchFamily="34" charset="-120"/>
              </a:rPr>
              <a:t>A value arc</a:t>
            </a:r>
            <a:endParaRPr lang="en-US" sz="1500" dirty="0"/>
          </a:p>
        </p:txBody>
      </p:sp>
      <p:sp>
        <p:nvSpPr>
          <p:cNvPr id="51" name="Text 46"/>
          <p:cNvSpPr/>
          <p:nvPr/>
        </p:nvSpPr>
        <p:spPr>
          <a:xfrm>
            <a:off x="6812280" y="4681728"/>
            <a:ext cx="4785055" cy="923544"/>
          </a:xfrm>
          <a:prstGeom prst="rect">
            <a:avLst/>
          </a:prstGeom>
          <a:noFill/>
          <a:ln/>
        </p:spPr>
        <p:txBody>
          <a:bodyPr wrap="square" lIns="0" tIns="0" rIns="0" bIns="0" rtlCol="0" anchor="t"/>
          <a:lstStyle/>
          <a:p>
            <a:pPr indent="0" marL="0">
              <a:lnSpc>
                <a:spcPct val="105000"/>
              </a:lnSpc>
              <a:buNone/>
            </a:pPr>
            <a:r>
              <a:rPr lang="en-US" sz="1200" dirty="0">
                <a:solidFill>
                  <a:srgbClr val="787A76"/>
                </a:solidFill>
                <a:latin typeface="Calibri" pitchFamily="34" charset="0"/>
                <a:ea typeface="Calibri" pitchFamily="34" charset="-122"/>
                <a:cs typeface="Calibri" pitchFamily="34" charset="-120"/>
              </a:rPr>
              <a:t>An orange arc fills around the knob as you turn it — readable at a glance.</a:t>
            </a:r>
            <a:endParaRPr lang="en-US" sz="1200" dirty="0"/>
          </a:p>
        </p:txBody>
      </p:sp>
      <p:sp>
        <p:nvSpPr>
          <p:cNvPr id="52" name="Text 47"/>
          <p:cNvSpPr/>
          <p:nvPr/>
        </p:nvSpPr>
        <p:spPr>
          <a:xfrm>
            <a:off x="6035040" y="5669280"/>
            <a:ext cx="5608015" cy="822960"/>
          </a:xfrm>
          <a:prstGeom prst="rect">
            <a:avLst/>
          </a:prstGeom>
          <a:noFill/>
          <a:ln/>
        </p:spPr>
        <p:txBody>
          <a:bodyPr wrap="square" lIns="0" tIns="0" rIns="0" bIns="0" rtlCol="0" anchor="ctr"/>
          <a:lstStyle/>
          <a:p>
            <a:pPr indent="0" marL="0">
              <a:lnSpc>
                <a:spcPct val="120000"/>
              </a:lnSpc>
              <a:buNone/>
            </a:pPr>
            <a:r>
              <a:rPr lang="en-US" sz="1300" dirty="0">
                <a:solidFill>
                  <a:srgbClr val="787A76"/>
                </a:solidFill>
                <a:latin typeface="Calibri" pitchFamily="34" charset="0"/>
                <a:ea typeface="Calibri" pitchFamily="34" charset="-122"/>
                <a:cs typeface="Calibri" pitchFamily="34" charset="-120"/>
              </a:rPr>
              <a:t>Physical-feeling controls matter most for a tactile learner — or a kid who's never used a mouse for anything precise before.</a:t>
            </a:r>
            <a:endParaRPr lang="en-US" sz="1300" dirty="0"/>
          </a:p>
        </p:txBody>
      </p:sp>
      <p:sp>
        <p:nvSpPr>
          <p:cNvPr id="53" name="Text 48"/>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B9BBB6"/>
                </a:solidFill>
                <a:latin typeface="Calibri" pitchFamily="34" charset="0"/>
                <a:ea typeface="Calibri" pitchFamily="34" charset="-122"/>
                <a:cs typeface="Calibri" pitchFamily="34" charset="-120"/>
              </a:rPr>
              <a:t>PLAYTAPE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CE8"/>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787A76"/>
                </a:solidFill>
                <a:latin typeface="Calibri" pitchFamily="34" charset="0"/>
                <a:ea typeface="Calibri" pitchFamily="34" charset="-122"/>
                <a:cs typeface="Calibri" pitchFamily="34" charset="-120"/>
              </a:rPr>
              <a:t>INSTRUMENTS</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232428"/>
                </a:solidFill>
                <a:latin typeface="Calibri" pitchFamily="34" charset="0"/>
                <a:ea typeface="Calibri" pitchFamily="34" charset="-122"/>
                <a:cs typeface="Calibri" pitchFamily="34" charset="-120"/>
              </a:rPr>
              <a:t>Play it three ways, from zero setup</a:t>
            </a:r>
            <a:endParaRPr lang="en-US" sz="3000" dirty="0"/>
          </a:p>
        </p:txBody>
      </p:sp>
      <p:sp>
        <p:nvSpPr>
          <p:cNvPr id="5" name="Shape 3"/>
          <p:cNvSpPr/>
          <p:nvPr/>
        </p:nvSpPr>
        <p:spPr>
          <a:xfrm>
            <a:off x="640080" y="1828800"/>
            <a:ext cx="2453564" cy="2286000"/>
          </a:xfrm>
          <a:prstGeom prst="roundRect">
            <a:avLst>
              <a:gd name="adj" fmla="val 3600"/>
            </a:avLst>
          </a:prstGeom>
          <a:solidFill>
            <a:srgbClr val="FFFFFF"/>
          </a:solidFill>
          <a:ln/>
          <a:effectLst>
            <a:outerShdw sx="100000" sy="100000" kx="0" ky="0" algn="bl" rotWithShape="0" blurRad="127000" dist="38100" dir="5400000">
              <a:srgbClr val="000000">
                <a:alpha val="16000"/>
              </a:srgbClr>
            </a:outerShdw>
          </a:effectLst>
        </p:spPr>
      </p:sp>
      <p:sp>
        <p:nvSpPr>
          <p:cNvPr id="6" name="Shape 4"/>
          <p:cNvSpPr/>
          <p:nvPr/>
        </p:nvSpPr>
        <p:spPr>
          <a:xfrm>
            <a:off x="1501102" y="2148840"/>
            <a:ext cx="731520" cy="73152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7" name="Image 0" descr="preencoded.png"/>
          <p:cNvPicPr>
            <a:picLocks noChangeAspect="1"/>
          </p:cNvPicPr>
          <p:nvPr/>
        </p:nvPicPr>
        <p:blipFill>
          <a:blip r:embed="rId1"/>
          <a:stretch>
            <a:fillRect/>
          </a:stretch>
        </p:blipFill>
        <p:spPr>
          <a:xfrm>
            <a:off x="1676667" y="2324405"/>
            <a:ext cx="380390" cy="380390"/>
          </a:xfrm>
          <a:prstGeom prst="rect">
            <a:avLst/>
          </a:prstGeom>
        </p:spPr>
      </p:pic>
      <p:sp>
        <p:nvSpPr>
          <p:cNvPr id="8" name="Text 5"/>
          <p:cNvSpPr/>
          <p:nvPr/>
        </p:nvSpPr>
        <p:spPr>
          <a:xfrm>
            <a:off x="777240" y="3063240"/>
            <a:ext cx="2179244" cy="365760"/>
          </a:xfrm>
          <a:prstGeom prst="rect">
            <a:avLst/>
          </a:prstGeom>
          <a:noFill/>
          <a:ln/>
        </p:spPr>
        <p:txBody>
          <a:bodyPr wrap="square" lIns="0" tIns="0" rIns="0" bIns="0" rtlCol="0" anchor="ctr"/>
          <a:lstStyle/>
          <a:p>
            <a:pPr algn="ctr" indent="0" marL="0">
              <a:buNone/>
            </a:pPr>
            <a:r>
              <a:rPr lang="en-US" sz="1500" b="1" dirty="0">
                <a:solidFill>
                  <a:srgbClr val="232428"/>
                </a:solidFill>
                <a:latin typeface="Calibri" pitchFamily="34" charset="0"/>
                <a:ea typeface="Calibri" pitchFamily="34" charset="-122"/>
                <a:cs typeface="Calibri" pitchFamily="34" charset="-120"/>
              </a:rPr>
              <a:t>Keys</a:t>
            </a:r>
            <a:endParaRPr lang="en-US" sz="1500" dirty="0"/>
          </a:p>
        </p:txBody>
      </p:sp>
      <p:sp>
        <p:nvSpPr>
          <p:cNvPr id="9" name="Text 6"/>
          <p:cNvSpPr/>
          <p:nvPr/>
        </p:nvSpPr>
        <p:spPr>
          <a:xfrm>
            <a:off x="777240" y="3456432"/>
            <a:ext cx="2179244" cy="365760"/>
          </a:xfrm>
          <a:prstGeom prst="rect">
            <a:avLst/>
          </a:prstGeom>
          <a:noFill/>
          <a:ln/>
        </p:spPr>
        <p:txBody>
          <a:bodyPr wrap="square" lIns="0" tIns="0" rIns="0" bIns="0" rtlCol="0" anchor="ctr"/>
          <a:lstStyle/>
          <a:p>
            <a:pPr algn="ctr" indent="0" marL="0">
              <a:buNone/>
            </a:pPr>
            <a:r>
              <a:rPr lang="en-US" sz="1050" dirty="0">
                <a:solidFill>
                  <a:srgbClr val="787A76"/>
                </a:solidFill>
                <a:latin typeface="Courier New" pitchFamily="34" charset="0"/>
                <a:ea typeface="Courier New" pitchFamily="34" charset="-122"/>
                <a:cs typeface="Courier New" pitchFamily="34" charset="-120"/>
              </a:rPr>
              <a:t>4-voice synth</a:t>
            </a:r>
            <a:endParaRPr lang="en-US" sz="1050" dirty="0"/>
          </a:p>
        </p:txBody>
      </p:sp>
      <p:sp>
        <p:nvSpPr>
          <p:cNvPr id="10" name="Shape 7"/>
          <p:cNvSpPr/>
          <p:nvPr/>
        </p:nvSpPr>
        <p:spPr>
          <a:xfrm>
            <a:off x="3459404" y="1828800"/>
            <a:ext cx="2453564" cy="2286000"/>
          </a:xfrm>
          <a:prstGeom prst="roundRect">
            <a:avLst>
              <a:gd name="adj" fmla="val 3600"/>
            </a:avLst>
          </a:prstGeom>
          <a:solidFill>
            <a:srgbClr val="FFFFFF"/>
          </a:solidFill>
          <a:ln/>
          <a:effectLst>
            <a:outerShdw sx="100000" sy="100000" kx="0" ky="0" algn="bl" rotWithShape="0" blurRad="127000" dist="38100" dir="5400000">
              <a:srgbClr val="000000">
                <a:alpha val="16000"/>
              </a:srgbClr>
            </a:outerShdw>
          </a:effectLst>
        </p:spPr>
      </p:sp>
      <p:sp>
        <p:nvSpPr>
          <p:cNvPr id="11" name="Shape 8"/>
          <p:cNvSpPr/>
          <p:nvPr/>
        </p:nvSpPr>
        <p:spPr>
          <a:xfrm>
            <a:off x="4320426" y="2148840"/>
            <a:ext cx="731520" cy="73152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2" name="Image 1" descr="preencoded.png"/>
          <p:cNvPicPr>
            <a:picLocks noChangeAspect="1"/>
          </p:cNvPicPr>
          <p:nvPr/>
        </p:nvPicPr>
        <p:blipFill>
          <a:blip r:embed="rId2"/>
          <a:stretch>
            <a:fillRect/>
          </a:stretch>
        </p:blipFill>
        <p:spPr>
          <a:xfrm>
            <a:off x="4495991" y="2324405"/>
            <a:ext cx="380390" cy="380390"/>
          </a:xfrm>
          <a:prstGeom prst="rect">
            <a:avLst/>
          </a:prstGeom>
        </p:spPr>
      </p:pic>
      <p:sp>
        <p:nvSpPr>
          <p:cNvPr id="13" name="Text 9"/>
          <p:cNvSpPr/>
          <p:nvPr/>
        </p:nvSpPr>
        <p:spPr>
          <a:xfrm>
            <a:off x="3596564" y="3063240"/>
            <a:ext cx="2179244" cy="365760"/>
          </a:xfrm>
          <a:prstGeom prst="rect">
            <a:avLst/>
          </a:prstGeom>
          <a:noFill/>
          <a:ln/>
        </p:spPr>
        <p:txBody>
          <a:bodyPr wrap="square" lIns="0" tIns="0" rIns="0" bIns="0" rtlCol="0" anchor="ctr"/>
          <a:lstStyle/>
          <a:p>
            <a:pPr algn="ctr" indent="0" marL="0">
              <a:buNone/>
            </a:pPr>
            <a:r>
              <a:rPr lang="en-US" sz="1500" b="1" dirty="0">
                <a:solidFill>
                  <a:srgbClr val="232428"/>
                </a:solidFill>
                <a:latin typeface="Calibri" pitchFamily="34" charset="0"/>
                <a:ea typeface="Calibri" pitchFamily="34" charset="-122"/>
                <a:cs typeface="Calibri" pitchFamily="34" charset="-120"/>
              </a:rPr>
              <a:t>Drums</a:t>
            </a:r>
            <a:endParaRPr lang="en-US" sz="1500" dirty="0"/>
          </a:p>
        </p:txBody>
      </p:sp>
      <p:sp>
        <p:nvSpPr>
          <p:cNvPr id="14" name="Text 10"/>
          <p:cNvSpPr/>
          <p:nvPr/>
        </p:nvSpPr>
        <p:spPr>
          <a:xfrm>
            <a:off x="3596564" y="3456432"/>
            <a:ext cx="2179244" cy="365760"/>
          </a:xfrm>
          <a:prstGeom prst="rect">
            <a:avLst/>
          </a:prstGeom>
          <a:noFill/>
          <a:ln/>
        </p:spPr>
        <p:txBody>
          <a:bodyPr wrap="square" lIns="0" tIns="0" rIns="0" bIns="0" rtlCol="0" anchor="ctr"/>
          <a:lstStyle/>
          <a:p>
            <a:pPr algn="ctr" indent="0" marL="0">
              <a:buNone/>
            </a:pPr>
            <a:r>
              <a:rPr lang="en-US" sz="1050" dirty="0">
                <a:solidFill>
                  <a:srgbClr val="787A76"/>
                </a:solidFill>
                <a:latin typeface="Courier New" pitchFamily="34" charset="0"/>
                <a:ea typeface="Courier New" pitchFamily="34" charset="-122"/>
                <a:cs typeface="Courier New" pitchFamily="34" charset="-120"/>
              </a:rPr>
              <a:t>16-step grid</a:t>
            </a:r>
            <a:endParaRPr lang="en-US" sz="1050" dirty="0"/>
          </a:p>
        </p:txBody>
      </p:sp>
      <p:sp>
        <p:nvSpPr>
          <p:cNvPr id="15" name="Shape 11"/>
          <p:cNvSpPr/>
          <p:nvPr/>
        </p:nvSpPr>
        <p:spPr>
          <a:xfrm>
            <a:off x="6278728" y="1828800"/>
            <a:ext cx="2453564" cy="2286000"/>
          </a:xfrm>
          <a:prstGeom prst="roundRect">
            <a:avLst>
              <a:gd name="adj" fmla="val 3600"/>
            </a:avLst>
          </a:prstGeom>
          <a:solidFill>
            <a:srgbClr val="FFFFFF"/>
          </a:solidFill>
          <a:ln/>
          <a:effectLst>
            <a:outerShdw sx="100000" sy="100000" kx="0" ky="0" algn="bl" rotWithShape="0" blurRad="127000" dist="38100" dir="5400000">
              <a:srgbClr val="000000">
                <a:alpha val="16000"/>
              </a:srgbClr>
            </a:outerShdw>
          </a:effectLst>
        </p:spPr>
      </p:sp>
      <p:sp>
        <p:nvSpPr>
          <p:cNvPr id="16" name="Shape 12"/>
          <p:cNvSpPr/>
          <p:nvPr/>
        </p:nvSpPr>
        <p:spPr>
          <a:xfrm>
            <a:off x="7139750" y="2148840"/>
            <a:ext cx="731520" cy="73152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7" name="Image 2" descr="preencoded.png"/>
          <p:cNvPicPr>
            <a:picLocks noChangeAspect="1"/>
          </p:cNvPicPr>
          <p:nvPr/>
        </p:nvPicPr>
        <p:blipFill>
          <a:blip r:embed="rId3"/>
          <a:stretch>
            <a:fillRect/>
          </a:stretch>
        </p:blipFill>
        <p:spPr>
          <a:xfrm>
            <a:off x="7315314" y="2324405"/>
            <a:ext cx="380390" cy="380390"/>
          </a:xfrm>
          <a:prstGeom prst="rect">
            <a:avLst/>
          </a:prstGeom>
        </p:spPr>
      </p:pic>
      <p:sp>
        <p:nvSpPr>
          <p:cNvPr id="18" name="Text 13"/>
          <p:cNvSpPr/>
          <p:nvPr/>
        </p:nvSpPr>
        <p:spPr>
          <a:xfrm>
            <a:off x="6415888" y="3063240"/>
            <a:ext cx="2179244" cy="365760"/>
          </a:xfrm>
          <a:prstGeom prst="rect">
            <a:avLst/>
          </a:prstGeom>
          <a:noFill/>
          <a:ln/>
        </p:spPr>
        <p:txBody>
          <a:bodyPr wrap="square" lIns="0" tIns="0" rIns="0" bIns="0" rtlCol="0" anchor="ctr"/>
          <a:lstStyle/>
          <a:p>
            <a:pPr algn="ctr" indent="0" marL="0">
              <a:buNone/>
            </a:pPr>
            <a:r>
              <a:rPr lang="en-US" sz="1500" b="1" dirty="0">
                <a:solidFill>
                  <a:srgbClr val="232428"/>
                </a:solidFill>
                <a:latin typeface="Calibri" pitchFamily="34" charset="0"/>
                <a:ea typeface="Calibri" pitchFamily="34" charset="-122"/>
                <a:cs typeface="Calibri" pitchFamily="34" charset="-120"/>
              </a:rPr>
              <a:t>Pocket Synth</a:t>
            </a:r>
            <a:endParaRPr lang="en-US" sz="1500" dirty="0"/>
          </a:p>
        </p:txBody>
      </p:sp>
      <p:sp>
        <p:nvSpPr>
          <p:cNvPr id="19" name="Text 14"/>
          <p:cNvSpPr/>
          <p:nvPr/>
        </p:nvSpPr>
        <p:spPr>
          <a:xfrm>
            <a:off x="6415888" y="3456432"/>
            <a:ext cx="2179244" cy="365760"/>
          </a:xfrm>
          <a:prstGeom prst="rect">
            <a:avLst/>
          </a:prstGeom>
          <a:noFill/>
          <a:ln/>
        </p:spPr>
        <p:txBody>
          <a:bodyPr wrap="square" lIns="0" tIns="0" rIns="0" bIns="0" rtlCol="0" anchor="ctr"/>
          <a:lstStyle/>
          <a:p>
            <a:pPr algn="ctr" indent="0" marL="0">
              <a:buNone/>
            </a:pPr>
            <a:r>
              <a:rPr lang="en-US" sz="1050" dirty="0">
                <a:solidFill>
                  <a:srgbClr val="787A76"/>
                </a:solidFill>
                <a:latin typeface="Courier New" pitchFamily="34" charset="0"/>
                <a:ea typeface="Courier New" pitchFamily="34" charset="-122"/>
                <a:cs typeface="Courier New" pitchFamily="34" charset="-120"/>
              </a:rPr>
              <a:t>glide &amp; glissando</a:t>
            </a:r>
            <a:endParaRPr lang="en-US" sz="1050" dirty="0"/>
          </a:p>
        </p:txBody>
      </p:sp>
      <p:sp>
        <p:nvSpPr>
          <p:cNvPr id="20" name="Shape 15"/>
          <p:cNvSpPr/>
          <p:nvPr/>
        </p:nvSpPr>
        <p:spPr>
          <a:xfrm>
            <a:off x="9098051" y="1828800"/>
            <a:ext cx="2453564" cy="2286000"/>
          </a:xfrm>
          <a:prstGeom prst="roundRect">
            <a:avLst>
              <a:gd name="adj" fmla="val 3600"/>
            </a:avLst>
          </a:prstGeom>
          <a:solidFill>
            <a:srgbClr val="FFFFFF"/>
          </a:solidFill>
          <a:ln/>
          <a:effectLst>
            <a:outerShdw sx="100000" sy="100000" kx="0" ky="0" algn="bl" rotWithShape="0" blurRad="127000" dist="38100" dir="5400000">
              <a:srgbClr val="000000">
                <a:alpha val="16000"/>
              </a:srgbClr>
            </a:outerShdw>
          </a:effectLst>
        </p:spPr>
      </p:sp>
      <p:sp>
        <p:nvSpPr>
          <p:cNvPr id="21" name="Shape 16"/>
          <p:cNvSpPr/>
          <p:nvPr/>
        </p:nvSpPr>
        <p:spPr>
          <a:xfrm>
            <a:off x="9959073" y="2148840"/>
            <a:ext cx="731520" cy="73152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22" name="Image 3" descr="preencoded.png"/>
          <p:cNvPicPr>
            <a:picLocks noChangeAspect="1"/>
          </p:cNvPicPr>
          <p:nvPr/>
        </p:nvPicPr>
        <p:blipFill>
          <a:blip r:embed="rId4"/>
          <a:stretch>
            <a:fillRect/>
          </a:stretch>
        </p:blipFill>
        <p:spPr>
          <a:xfrm>
            <a:off x="10134638" y="2324405"/>
            <a:ext cx="380390" cy="380390"/>
          </a:xfrm>
          <a:prstGeom prst="rect">
            <a:avLst/>
          </a:prstGeom>
        </p:spPr>
      </p:pic>
      <p:sp>
        <p:nvSpPr>
          <p:cNvPr id="23" name="Text 17"/>
          <p:cNvSpPr/>
          <p:nvPr/>
        </p:nvSpPr>
        <p:spPr>
          <a:xfrm>
            <a:off x="9235211" y="3063240"/>
            <a:ext cx="2179244" cy="365760"/>
          </a:xfrm>
          <a:prstGeom prst="rect">
            <a:avLst/>
          </a:prstGeom>
          <a:noFill/>
          <a:ln/>
        </p:spPr>
        <p:txBody>
          <a:bodyPr wrap="square" lIns="0" tIns="0" rIns="0" bIns="0" rtlCol="0" anchor="ctr"/>
          <a:lstStyle/>
          <a:p>
            <a:pPr algn="ctr" indent="0" marL="0">
              <a:buNone/>
            </a:pPr>
            <a:r>
              <a:rPr lang="en-US" sz="1500" b="1" dirty="0">
                <a:solidFill>
                  <a:srgbClr val="232428"/>
                </a:solidFill>
                <a:latin typeface="Calibri" pitchFamily="34" charset="0"/>
                <a:ea typeface="Calibri" pitchFamily="34" charset="-122"/>
                <a:cs typeface="Calibri" pitchFamily="34" charset="-120"/>
              </a:rPr>
              <a:t>MIDI</a:t>
            </a:r>
            <a:endParaRPr lang="en-US" sz="1500" dirty="0"/>
          </a:p>
        </p:txBody>
      </p:sp>
      <p:sp>
        <p:nvSpPr>
          <p:cNvPr id="24" name="Text 18"/>
          <p:cNvSpPr/>
          <p:nvPr/>
        </p:nvSpPr>
        <p:spPr>
          <a:xfrm>
            <a:off x="9235211" y="3456432"/>
            <a:ext cx="2179244" cy="365760"/>
          </a:xfrm>
          <a:prstGeom prst="rect">
            <a:avLst/>
          </a:prstGeom>
          <a:noFill/>
          <a:ln/>
        </p:spPr>
        <p:txBody>
          <a:bodyPr wrap="square" lIns="0" tIns="0" rIns="0" bIns="0" rtlCol="0" anchor="ctr"/>
          <a:lstStyle/>
          <a:p>
            <a:pPr algn="ctr" indent="0" marL="0">
              <a:buNone/>
            </a:pPr>
            <a:r>
              <a:rPr lang="en-US" sz="1050" dirty="0">
                <a:solidFill>
                  <a:srgbClr val="787A76"/>
                </a:solidFill>
                <a:latin typeface="Courier New" pitchFamily="34" charset="0"/>
                <a:ea typeface="Courier New" pitchFamily="34" charset="-122"/>
                <a:cs typeface="Courier New" pitchFamily="34" charset="-120"/>
              </a:rPr>
              <a:t>any USB keyboard</a:t>
            </a:r>
            <a:endParaRPr lang="en-US" sz="1050" dirty="0"/>
          </a:p>
        </p:txBody>
      </p:sp>
      <p:sp>
        <p:nvSpPr>
          <p:cNvPr id="25" name="Text 19"/>
          <p:cNvSpPr/>
          <p:nvPr/>
        </p:nvSpPr>
        <p:spPr>
          <a:xfrm>
            <a:off x="640080" y="4526280"/>
            <a:ext cx="10911535" cy="548640"/>
          </a:xfrm>
          <a:prstGeom prst="rect">
            <a:avLst/>
          </a:prstGeom>
          <a:noFill/>
          <a:ln/>
        </p:spPr>
        <p:txBody>
          <a:bodyPr wrap="square" lIns="0" tIns="0" rIns="0" bIns="0" rtlCol="0" anchor="ctr"/>
          <a:lstStyle/>
          <a:p>
            <a:pPr algn="ctr" indent="0" marL="0">
              <a:buNone/>
            </a:pPr>
            <a:r>
              <a:rPr lang="en-US" sz="1500" b="1" dirty="0">
                <a:solidFill>
                  <a:srgbClr val="FF5C1F"/>
                </a:solidFill>
                <a:latin typeface="Calibri" pitchFamily="34" charset="0"/>
                <a:ea typeface="Calibri" pitchFamily="34" charset="-122"/>
                <a:cs typeface="Calibri" pitchFamily="34" charset="-120"/>
              </a:rPr>
              <a:t>Mouse, computer keyboard, or a real MIDI keyboard — with velocity, no drivers, no setup screen.</a:t>
            </a:r>
            <a:endParaRPr lang="en-US" sz="1500" dirty="0"/>
          </a:p>
        </p:txBody>
      </p:sp>
      <p:sp>
        <p:nvSpPr>
          <p:cNvPr id="26" name="Text 20"/>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B9BBB6"/>
                </a:solidFill>
                <a:latin typeface="Calibri" pitchFamily="34" charset="0"/>
                <a:ea typeface="Calibri" pitchFamily="34" charset="-122"/>
                <a:cs typeface="Calibri" pitchFamily="34" charset="-120"/>
              </a:rPr>
              <a:t>PLAYTAPE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C1F"/>
        </a:solidFill>
      </p:bgPr>
    </p:bg>
    <p:spTree>
      <p:nvGrpSpPr>
        <p:cNvPr id="1" name=""/>
        <p:cNvGrpSpPr/>
        <p:nvPr/>
      </p:nvGrpSpPr>
      <p:grpSpPr>
        <a:xfrm>
          <a:off x="0" y="0"/>
          <a:ext cx="0" cy="0"/>
          <a:chOff x="0" y="0"/>
          <a:chExt cx="0" cy="0"/>
        </a:xfrm>
      </p:grpSpPr>
      <p:sp>
        <p:nvSpPr>
          <p:cNvPr id="2" name="Shape 0"/>
          <p:cNvSpPr/>
          <p:nvPr/>
        </p:nvSpPr>
        <p:spPr>
          <a:xfrm>
            <a:off x="4632808" y="2368296"/>
            <a:ext cx="128016" cy="128016"/>
          </a:xfrm>
          <a:prstGeom prst="ellipse">
            <a:avLst/>
          </a:prstGeom>
          <a:solidFill>
            <a:srgbClr val="FF5C1F"/>
          </a:solidFill>
          <a:ln/>
        </p:spPr>
      </p:sp>
      <p:sp>
        <p:nvSpPr>
          <p:cNvPr id="3" name="Text 1"/>
          <p:cNvSpPr/>
          <p:nvPr/>
        </p:nvSpPr>
        <p:spPr>
          <a:xfrm>
            <a:off x="4870552" y="2331720"/>
            <a:ext cx="5486400" cy="219456"/>
          </a:xfrm>
          <a:prstGeom prst="rect">
            <a:avLst/>
          </a:prstGeom>
          <a:noFill/>
          <a:ln/>
        </p:spPr>
        <p:txBody>
          <a:bodyPr wrap="square" lIns="0" tIns="0" rIns="0" bIns="0" rtlCol="0" anchor="ctr"/>
          <a:lstStyle/>
          <a:p>
            <a:pPr indent="0" marL="0">
              <a:buNone/>
            </a:pPr>
            <a:r>
              <a:rPr lang="en-US" sz="1100" b="1" spc="300" kern="0" dirty="0">
                <a:solidFill>
                  <a:srgbClr val="9A9BA0"/>
                </a:solidFill>
                <a:latin typeface="Calibri" pitchFamily="34" charset="0"/>
                <a:ea typeface="Calibri" pitchFamily="34" charset="-122"/>
                <a:cs typeface="Calibri" pitchFamily="34" charset="-120"/>
              </a:rPr>
              <a:t>VIBECODING, HONESTLY</a:t>
            </a:r>
            <a:endParaRPr lang="en-US" sz="1100" dirty="0"/>
          </a:p>
        </p:txBody>
      </p:sp>
      <p:sp>
        <p:nvSpPr>
          <p:cNvPr id="4" name="Text 2"/>
          <p:cNvSpPr/>
          <p:nvPr/>
        </p:nvSpPr>
        <p:spPr>
          <a:xfrm>
            <a:off x="640080" y="2743200"/>
            <a:ext cx="10911535" cy="1737360"/>
          </a:xfrm>
          <a:prstGeom prst="rect">
            <a:avLst/>
          </a:prstGeom>
          <a:noFill/>
          <a:ln/>
        </p:spPr>
        <p:txBody>
          <a:bodyPr wrap="square" lIns="0" tIns="0" rIns="0" bIns="0" rtlCol="0" anchor="ctr"/>
          <a:lstStyle/>
          <a:p>
            <a:pPr algn="ctr" indent="0" marL="0">
              <a:lnSpc>
                <a:spcPct val="105000"/>
              </a:lnSpc>
              <a:buNone/>
            </a:pPr>
            <a:r>
              <a:rPr lang="en-US" sz="4200" b="1" dirty="0">
                <a:solidFill>
                  <a:srgbClr val="FFFFFF"/>
                </a:solidFill>
                <a:latin typeface="Calibri" pitchFamily="34" charset="0"/>
                <a:ea typeface="Calibri" pitchFamily="34" charset="-122"/>
                <a:cs typeface="Calibri" pitchFamily="34" charset="-120"/>
              </a:rPr>
              <a:t>How it was</a:t>
            </a:r>
            <a:endParaRPr lang="en-US" sz="4200" dirty="0"/>
          </a:p>
          <a:p>
            <a:pPr algn="ctr" indent="0" marL="0">
              <a:lnSpc>
                <a:spcPct val="105000"/>
              </a:lnSpc>
              <a:buNone/>
            </a:pPr>
            <a:r>
              <a:rPr lang="en-US" sz="4200" b="1" dirty="0">
                <a:solidFill>
                  <a:srgbClr val="FFFFFF"/>
                </a:solidFill>
                <a:latin typeface="Calibri" pitchFamily="34" charset="0"/>
                <a:ea typeface="Calibri" pitchFamily="34" charset="-122"/>
                <a:cs typeface="Calibri" pitchFamily="34" charset="-120"/>
              </a:rPr>
              <a:t>actually built</a:t>
            </a:r>
            <a:endParaRPr lang="en-US" sz="4200" dirty="0"/>
          </a:p>
        </p:txBody>
      </p:sp>
      <p:sp>
        <p:nvSpPr>
          <p:cNvPr id="5" name="Text 3"/>
          <p:cNvSpPr/>
          <p:nvPr/>
        </p:nvSpPr>
        <p:spPr>
          <a:xfrm>
            <a:off x="640080" y="4434840"/>
            <a:ext cx="10911535" cy="457200"/>
          </a:xfrm>
          <a:prstGeom prst="rect">
            <a:avLst/>
          </a:prstGeom>
          <a:noFill/>
          <a:ln/>
        </p:spPr>
        <p:txBody>
          <a:bodyPr wrap="square" lIns="0" tIns="0" rIns="0" bIns="0" rtlCol="0" anchor="ctr"/>
          <a:lstStyle/>
          <a:p>
            <a:pPr algn="ctr" indent="0" marL="0">
              <a:buNone/>
            </a:pPr>
            <a:r>
              <a:rPr lang="en-US" sz="1500" dirty="0">
                <a:solidFill>
                  <a:srgbClr val="9A9BA0"/>
                </a:solidFill>
                <a:latin typeface="Calibri" pitchFamily="34" charset="0"/>
                <a:ea typeface="Calibri" pitchFamily="34" charset="-122"/>
                <a:cs typeface="Calibri" pitchFamily="34" charset="-120"/>
              </a:rPr>
              <a:t>Three real bugs. What they taught us.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C1F"/>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9A9BA0"/>
                </a:solidFill>
                <a:latin typeface="Calibri" pitchFamily="34" charset="0"/>
                <a:ea typeface="Calibri" pitchFamily="34" charset="-122"/>
                <a:cs typeface="Calibri" pitchFamily="34" charset="-120"/>
              </a:rPr>
              <a:t>BUG #1</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It “worked.” It was just glacial.</a:t>
            </a:r>
            <a:endParaRPr lang="en-US" sz="3000" dirty="0"/>
          </a:p>
        </p:txBody>
      </p:sp>
      <p:sp>
        <p:nvSpPr>
          <p:cNvPr id="5" name="Text 3"/>
          <p:cNvSpPr/>
          <p:nvPr/>
        </p:nvSpPr>
        <p:spPr>
          <a:xfrm>
            <a:off x="658368" y="1737360"/>
            <a:ext cx="6035040" cy="1188720"/>
          </a:xfrm>
          <a:prstGeom prst="rect">
            <a:avLst/>
          </a:prstGeom>
          <a:noFill/>
          <a:ln/>
        </p:spPr>
        <p:txBody>
          <a:bodyPr wrap="square" lIns="0" tIns="0" rIns="0" bIns="0" rtlCol="0" anchor="ctr"/>
          <a:lstStyle/>
          <a:p>
            <a:pPr indent="0" marL="0">
              <a:lnSpc>
                <a:spcPct val="125000"/>
              </a:lnSpc>
              <a:buNone/>
            </a:pPr>
            <a:r>
              <a:rPr lang="en-US" sz="1500" dirty="0">
                <a:solidFill>
                  <a:srgbClr val="E8E9E6"/>
                </a:solidFill>
                <a:latin typeface="Calibri" pitchFamily="34" charset="0"/>
                <a:ea typeface="Calibri" pitchFamily="34" charset="-122"/>
                <a:cs typeface="Calibri" pitchFamily="34" charset="-120"/>
              </a:rPr>
              <a:t>Bouncing a 3-minute mix took 25+ seconds. The mixer was building every audio effect for every track — even the ones switched off.</a:t>
            </a:r>
            <a:endParaRPr lang="en-US" sz="1500" dirty="0"/>
          </a:p>
        </p:txBody>
      </p:sp>
      <p:sp>
        <p:nvSpPr>
          <p:cNvPr id="6" name="Text 4"/>
          <p:cNvSpPr/>
          <p:nvPr/>
        </p:nvSpPr>
        <p:spPr>
          <a:xfrm>
            <a:off x="658368" y="5074920"/>
            <a:ext cx="6035040" cy="731520"/>
          </a:xfrm>
          <a:prstGeom prst="rect">
            <a:avLst/>
          </a:prstGeom>
          <a:noFill/>
          <a:ln/>
        </p:spPr>
        <p:txBody>
          <a:bodyPr wrap="square" lIns="0" tIns="0" rIns="0" bIns="0" rtlCol="0" anchor="ctr"/>
          <a:lstStyle/>
          <a:p>
            <a:pPr indent="0" marL="0">
              <a:buNone/>
            </a:pPr>
            <a:r>
              <a:rPr lang="en-US" sz="1350" i="1" dirty="0">
                <a:solidFill>
                  <a:srgbClr val="9A9BA0"/>
                </a:solidFill>
                <a:latin typeface="Calibri" pitchFamily="34" charset="0"/>
                <a:ea typeface="Calibri" pitchFamily="34" charset="-122"/>
                <a:cs typeface="Calibri" pitchFamily="34" charset="-120"/>
              </a:rPr>
              <a:t>Fix: skip bypassed effect nodes entirely when rendering offline.</a:t>
            </a:r>
            <a:endParaRPr lang="en-US" sz="1350" dirty="0"/>
          </a:p>
        </p:txBody>
      </p:sp>
      <p:sp>
        <p:nvSpPr>
          <p:cNvPr id="7" name="Shape 5"/>
          <p:cNvSpPr/>
          <p:nvPr/>
        </p:nvSpPr>
        <p:spPr>
          <a:xfrm>
            <a:off x="7040880" y="1783080"/>
            <a:ext cx="4480560" cy="3200400"/>
          </a:xfrm>
          <a:prstGeom prst="roundRect">
            <a:avLst>
              <a:gd name="adj" fmla="val 2571"/>
            </a:avLst>
          </a:prstGeom>
          <a:solidFill>
            <a:srgbClr val="26272B"/>
          </a:solidFill>
          <a:ln/>
          <a:effectLst>
            <a:outerShdw sx="100000" sy="100000" kx="0" ky="0" algn="bl" rotWithShape="0" blurRad="127000" dist="38100" dir="5400000">
              <a:srgbClr val="000000">
                <a:alpha val="16000"/>
              </a:srgbClr>
            </a:outerShdw>
          </a:effectLst>
        </p:spPr>
      </p:sp>
      <p:sp>
        <p:nvSpPr>
          <p:cNvPr id="8" name="Text 6"/>
          <p:cNvSpPr/>
          <p:nvPr/>
        </p:nvSpPr>
        <p:spPr>
          <a:xfrm>
            <a:off x="7040880" y="2103120"/>
            <a:ext cx="4480560" cy="1005840"/>
          </a:xfrm>
          <a:prstGeom prst="rect">
            <a:avLst/>
          </a:prstGeom>
          <a:noFill/>
          <a:ln/>
        </p:spPr>
        <p:txBody>
          <a:bodyPr wrap="square" lIns="0" tIns="0" rIns="0" bIns="0" rtlCol="0" anchor="ctr"/>
          <a:lstStyle/>
          <a:p>
            <a:pPr algn="ctr" indent="0" marL="0">
              <a:buNone/>
            </a:pPr>
            <a:r>
              <a:rPr lang="en-US" sz="4000" b="1" dirty="0">
                <a:solidFill>
                  <a:srgbClr val="9A9BA0"/>
                </a:solidFill>
                <a:latin typeface="Calibri" pitchFamily="34" charset="0"/>
                <a:ea typeface="Calibri" pitchFamily="34" charset="-122"/>
                <a:cs typeface="Calibri" pitchFamily="34" charset="-120"/>
              </a:rPr>
              <a:t>17.8s</a:t>
            </a:r>
            <a:endParaRPr lang="en-US" sz="4000" dirty="0"/>
          </a:p>
        </p:txBody>
      </p:sp>
      <p:sp>
        <p:nvSpPr>
          <p:cNvPr id="9" name="Text 7"/>
          <p:cNvSpPr/>
          <p:nvPr/>
        </p:nvSpPr>
        <p:spPr>
          <a:xfrm>
            <a:off x="7040880" y="3017520"/>
            <a:ext cx="4480560" cy="548640"/>
          </a:xfrm>
          <a:prstGeom prst="rect">
            <a:avLst/>
          </a:prstGeom>
          <a:noFill/>
          <a:ln/>
        </p:spPr>
        <p:txBody>
          <a:bodyPr wrap="square" lIns="0" tIns="0" rIns="0" bIns="0" rtlCol="0" anchor="ctr"/>
          <a:lstStyle/>
          <a:p>
            <a:pPr algn="ctr" indent="0" marL="0">
              <a:buNone/>
            </a:pPr>
            <a:r>
              <a:rPr lang="en-US" sz="2600" dirty="0">
                <a:solidFill>
                  <a:srgbClr val="FF5C1F"/>
                </a:solidFill>
                <a:latin typeface="Calibri" pitchFamily="34" charset="0"/>
                <a:ea typeface="Calibri" pitchFamily="34" charset="-122"/>
                <a:cs typeface="Calibri" pitchFamily="34" charset="-120"/>
              </a:rPr>
              <a:t>↓</a:t>
            </a:r>
            <a:endParaRPr lang="en-US" sz="2600" dirty="0"/>
          </a:p>
        </p:txBody>
      </p:sp>
      <p:sp>
        <p:nvSpPr>
          <p:cNvPr id="10" name="Text 8"/>
          <p:cNvSpPr/>
          <p:nvPr/>
        </p:nvSpPr>
        <p:spPr>
          <a:xfrm>
            <a:off x="7040880" y="3474720"/>
            <a:ext cx="4480560" cy="1005840"/>
          </a:xfrm>
          <a:prstGeom prst="rect">
            <a:avLst/>
          </a:prstGeom>
          <a:noFill/>
          <a:ln/>
        </p:spPr>
        <p:txBody>
          <a:bodyPr wrap="square" lIns="0" tIns="0" rIns="0" bIns="0" rtlCol="0" anchor="ctr"/>
          <a:lstStyle/>
          <a:p>
            <a:pPr algn="ctr" indent="0" marL="0">
              <a:buNone/>
            </a:pPr>
            <a:r>
              <a:rPr lang="en-US" sz="4600" b="1" dirty="0">
                <a:solidFill>
                  <a:srgbClr val="FF5C1F"/>
                </a:solidFill>
                <a:latin typeface="Calibri" pitchFamily="34" charset="0"/>
                <a:ea typeface="Calibri" pitchFamily="34" charset="-122"/>
                <a:cs typeface="Calibri" pitchFamily="34" charset="-120"/>
              </a:rPr>
              <a:t>2.2s</a:t>
            </a:r>
            <a:endParaRPr lang="en-US" sz="4600" dirty="0"/>
          </a:p>
        </p:txBody>
      </p:sp>
      <p:sp>
        <p:nvSpPr>
          <p:cNvPr id="11" name="Text 9"/>
          <p:cNvSpPr/>
          <p:nvPr/>
        </p:nvSpPr>
        <p:spPr>
          <a:xfrm>
            <a:off x="7040880" y="4480560"/>
            <a:ext cx="4480560" cy="457200"/>
          </a:xfrm>
          <a:prstGeom prst="rect">
            <a:avLst/>
          </a:prstGeom>
          <a:noFill/>
          <a:ln/>
        </p:spPr>
        <p:txBody>
          <a:bodyPr wrap="square" lIns="0" tIns="0" rIns="0" bIns="0" rtlCol="0" anchor="ctr"/>
          <a:lstStyle/>
          <a:p>
            <a:pPr algn="ctr" indent="0" marL="0">
              <a:buNone/>
            </a:pPr>
            <a:r>
              <a:rPr lang="en-US" sz="1200" dirty="0">
                <a:solidFill>
                  <a:srgbClr val="9A9BA0"/>
                </a:solidFill>
                <a:latin typeface="Courier New" pitchFamily="34" charset="0"/>
                <a:ea typeface="Courier New" pitchFamily="34" charset="-122"/>
                <a:cs typeface="Courier New" pitchFamily="34" charset="-120"/>
              </a:rPr>
              <a:t>~8x faster · zero change in the output</a:t>
            </a:r>
            <a:endParaRPr lang="en-US" sz="1200" dirty="0"/>
          </a:p>
        </p:txBody>
      </p:sp>
      <p:sp>
        <p:nvSpPr>
          <p:cNvPr id="13" name="Text 10"/>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55565B"/>
                </a:solidFill>
                <a:latin typeface="Calibri" pitchFamily="34" charset="0"/>
                <a:ea typeface="Calibri" pitchFamily="34" charset="-122"/>
                <a:cs typeface="Calibri" pitchFamily="34" charset="-120"/>
              </a:rPr>
              <a:t>PLAYTAPE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C1F"/>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9A9BA0"/>
                </a:solidFill>
                <a:latin typeface="Calibri" pitchFamily="34" charset="0"/>
                <a:ea typeface="Calibri" pitchFamily="34" charset="-122"/>
                <a:cs typeface="Calibri" pitchFamily="34" charset="-120"/>
              </a:rPr>
              <a:t>BUG #2 — THE BEST STORY</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One dropped quote mark</a:t>
            </a:r>
            <a:endParaRPr lang="en-US" sz="3000" dirty="0"/>
          </a:p>
        </p:txBody>
      </p:sp>
      <p:sp>
        <p:nvSpPr>
          <p:cNvPr id="5" name="Shape 3"/>
          <p:cNvSpPr/>
          <p:nvPr/>
        </p:nvSpPr>
        <p:spPr>
          <a:xfrm>
            <a:off x="640080" y="1737360"/>
            <a:ext cx="5577840" cy="1371600"/>
          </a:xfrm>
          <a:prstGeom prst="roundRect">
            <a:avLst>
              <a:gd name="adj" fmla="val 6000"/>
            </a:avLst>
          </a:prstGeom>
          <a:solidFill>
            <a:srgbClr val="26272B"/>
          </a:solidFill>
          <a:ln/>
          <a:effectLst>
            <a:outerShdw sx="100000" sy="100000" kx="0" ky="0" algn="bl" rotWithShape="0" blurRad="127000" dist="38100" dir="5400000">
              <a:srgbClr val="000000">
                <a:alpha val="16000"/>
              </a:srgbClr>
            </a:outerShdw>
          </a:effectLst>
        </p:spPr>
      </p:sp>
      <p:sp>
        <p:nvSpPr>
          <p:cNvPr id="6" name="Text 4"/>
          <p:cNvSpPr/>
          <p:nvPr/>
        </p:nvSpPr>
        <p:spPr>
          <a:xfrm>
            <a:off x="868680" y="2011680"/>
            <a:ext cx="5120640" cy="45720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id="drumBtn</a:t>
            </a:r>
            <a:pPr indent="0" marL="0">
              <a:buNone/>
            </a:pPr>
            <a:r>
              <a:rPr lang="en-US" sz="1500" dirty="0">
                <a:solidFill>
                  <a:srgbClr val="FF8A6A"/>
                </a:solidFill>
                <a:latin typeface="Courier New" pitchFamily="34" charset="0"/>
                <a:ea typeface="Courier New" pitchFamily="34" charset="-122"/>
                <a:cs typeface="Courier New" pitchFamily="34" charset="-120"/>
              </a:rPr>
              <a:t xml:space="preserve"> title="Drum machine"</a:t>
            </a:r>
            <a:endParaRPr lang="en-US" sz="1500" dirty="0"/>
          </a:p>
        </p:txBody>
      </p:sp>
      <p:sp>
        <p:nvSpPr>
          <p:cNvPr id="7" name="Text 5"/>
          <p:cNvSpPr/>
          <p:nvPr/>
        </p:nvSpPr>
        <p:spPr>
          <a:xfrm>
            <a:off x="868680" y="2514600"/>
            <a:ext cx="5120640" cy="457200"/>
          </a:xfrm>
          <a:prstGeom prst="rect">
            <a:avLst/>
          </a:prstGeom>
          <a:noFill/>
          <a:ln/>
        </p:spPr>
        <p:txBody>
          <a:bodyPr wrap="square" lIns="0" tIns="0" rIns="0" bIns="0" rtlCol="0" anchor="ctr"/>
          <a:lstStyle/>
          <a:p>
            <a:pPr indent="0" marL="0">
              <a:buNone/>
            </a:pPr>
            <a:r>
              <a:rPr lang="en-US" sz="1150" dirty="0">
                <a:solidFill>
                  <a:srgbClr val="FF5C1F"/>
                </a:solidFill>
                <a:latin typeface="Courier New" pitchFamily="34" charset="0"/>
                <a:ea typeface="Courier New" pitchFamily="34" charset="-122"/>
                <a:cs typeface="Courier New" pitchFamily="34" charset="-120"/>
              </a:rPr>
              <a:t>↑ the closing quote never made it in</a:t>
            </a:r>
            <a:endParaRPr lang="en-US" sz="1150" dirty="0"/>
          </a:p>
        </p:txBody>
      </p:sp>
      <p:sp>
        <p:nvSpPr>
          <p:cNvPr id="8" name="Text 6"/>
          <p:cNvSpPr/>
          <p:nvPr/>
        </p:nvSpPr>
        <p:spPr>
          <a:xfrm>
            <a:off x="658368" y="3337560"/>
            <a:ext cx="5577840" cy="822960"/>
          </a:xfrm>
          <a:prstGeom prst="rect">
            <a:avLst/>
          </a:prstGeom>
          <a:noFill/>
          <a:ln/>
        </p:spPr>
        <p:txBody>
          <a:bodyPr wrap="square" lIns="0" tIns="0" rIns="0" bIns="0" rtlCol="0" anchor="ctr"/>
          <a:lstStyle/>
          <a:p>
            <a:pPr indent="0" marL="0">
              <a:lnSpc>
                <a:spcPct val="120000"/>
              </a:lnSpc>
              <a:buNone/>
            </a:pPr>
            <a:r>
              <a:rPr lang="en-US" sz="1350" dirty="0">
                <a:solidFill>
                  <a:srgbClr val="E8E9E6"/>
                </a:solidFill>
                <a:latin typeface="Calibri" pitchFamily="34" charset="0"/>
                <a:ea typeface="Calibri" pitchFamily="34" charset="-122"/>
                <a:cs typeface="Calibri" pitchFamily="34" charset="-120"/>
              </a:rPr>
              <a:t>That's not a cosmetic typo — it makes the browser return nothing when the app looks up that button by id. The very next line of code does:</a:t>
            </a:r>
            <a:endParaRPr lang="en-US" sz="1350" dirty="0"/>
          </a:p>
        </p:txBody>
      </p:sp>
      <p:sp>
        <p:nvSpPr>
          <p:cNvPr id="9" name="Shape 7"/>
          <p:cNvSpPr/>
          <p:nvPr/>
        </p:nvSpPr>
        <p:spPr>
          <a:xfrm>
            <a:off x="640080" y="4206240"/>
            <a:ext cx="5577840" cy="640080"/>
          </a:xfrm>
          <a:prstGeom prst="roundRect">
            <a:avLst>
              <a:gd name="adj" fmla="val 12857"/>
            </a:avLst>
          </a:prstGeom>
          <a:solidFill>
            <a:srgbClr val="26272B"/>
          </a:solidFill>
          <a:ln/>
          <a:effectLst>
            <a:outerShdw sx="100000" sy="100000" kx="0" ky="0" algn="bl" rotWithShape="0" blurRad="127000" dist="38100" dir="5400000">
              <a:srgbClr val="000000">
                <a:alpha val="16000"/>
              </a:srgbClr>
            </a:outerShdw>
          </a:effectLst>
        </p:spPr>
      </p:sp>
      <p:sp>
        <p:nvSpPr>
          <p:cNvPr id="10" name="Text 8"/>
          <p:cNvSpPr/>
          <p:nvPr/>
        </p:nvSpPr>
        <p:spPr>
          <a:xfrm>
            <a:off x="868680" y="4361688"/>
            <a:ext cx="5120640" cy="365760"/>
          </a:xfrm>
          <a:prstGeom prst="rect">
            <a:avLst/>
          </a:prstGeom>
          <a:noFill/>
          <a:ln/>
        </p:spPr>
        <p:txBody>
          <a:bodyPr wrap="square" lIns="0" tIns="0" rIns="0" bIns="0" rtlCol="0" anchor="ctr"/>
          <a:lstStyle/>
          <a:p>
            <a:pPr indent="0" marL="0">
              <a:buNone/>
            </a:pPr>
            <a:r>
              <a:rPr lang="en-US" sz="1350" dirty="0">
                <a:solidFill>
                  <a:srgbClr val="FF7C46"/>
                </a:solidFill>
                <a:latin typeface="Courier New" pitchFamily="34" charset="0"/>
                <a:ea typeface="Courier New" pitchFamily="34" charset="-122"/>
                <a:cs typeface="Courier New" pitchFamily="34" charset="-120"/>
              </a:rPr>
              <a:t>$('drumBtn').onclick = openDrums</a:t>
            </a:r>
            <a:endParaRPr lang="en-US" sz="1350" dirty="0"/>
          </a:p>
        </p:txBody>
      </p:sp>
      <p:sp>
        <p:nvSpPr>
          <p:cNvPr id="11" name="Text 9"/>
          <p:cNvSpPr/>
          <p:nvPr/>
        </p:nvSpPr>
        <p:spPr>
          <a:xfrm>
            <a:off x="658368" y="4983480"/>
            <a:ext cx="5577840" cy="1005840"/>
          </a:xfrm>
          <a:prstGeom prst="rect">
            <a:avLst/>
          </a:prstGeom>
          <a:noFill/>
          <a:ln/>
        </p:spPr>
        <p:txBody>
          <a:bodyPr wrap="square" lIns="0" tIns="0" rIns="0" bIns="0" rtlCol="0" anchor="ctr"/>
          <a:lstStyle/>
          <a:p>
            <a:pPr indent="0" marL="0">
              <a:lnSpc>
                <a:spcPct val="120000"/>
              </a:lnSpc>
              <a:buNone/>
            </a:pPr>
            <a:r>
              <a:rPr lang="en-US" sz="1350" dirty="0">
                <a:solidFill>
                  <a:srgbClr val="E8E9E6"/>
                </a:solidFill>
                <a:latin typeface="Calibri" pitchFamily="34" charset="0"/>
                <a:ea typeface="Calibri" pitchFamily="34" charset="-122"/>
                <a:cs typeface="Calibri" pitchFamily="34" charset="-120"/>
              </a:rPr>
              <a:t>...on a button that doesn't exist — which throws.</a:t>
            </a:r>
            <a:endParaRPr lang="en-US" sz="1350" dirty="0"/>
          </a:p>
        </p:txBody>
      </p:sp>
      <p:sp>
        <p:nvSpPr>
          <p:cNvPr id="12" name="Text 10"/>
          <p:cNvSpPr/>
          <p:nvPr/>
        </p:nvSpPr>
        <p:spPr>
          <a:xfrm>
            <a:off x="6675120" y="1737360"/>
            <a:ext cx="4846320" cy="685800"/>
          </a:xfrm>
          <a:prstGeom prst="rect">
            <a:avLst/>
          </a:prstGeom>
          <a:noFill/>
          <a:ln/>
        </p:spPr>
        <p:txBody>
          <a:bodyPr wrap="square" lIns="0" tIns="0" rIns="0" bIns="0" rtlCol="0" anchor="ctr"/>
          <a:lstStyle/>
          <a:p>
            <a:pPr indent="0" marL="0">
              <a:lnSpc>
                <a:spcPct val="115000"/>
              </a:lnSpc>
              <a:buNone/>
            </a:pPr>
            <a:r>
              <a:rPr lang="en-US" sz="1300" dirty="0">
                <a:solidFill>
                  <a:srgbClr val="9A9BA0"/>
                </a:solidFill>
                <a:latin typeface="Calibri" pitchFamily="34" charset="0"/>
                <a:ea typeface="Calibri" pitchFamily="34" charset="-122"/>
                <a:cs typeface="Calibri" pitchFamily="34" charset="-120"/>
              </a:rPr>
              <a:t>Because all UI wiring ran as one script, that single error silently killed everything written after it:</a:t>
            </a:r>
            <a:endParaRPr lang="en-US" sz="1300" dirty="0"/>
          </a:p>
        </p:txBody>
      </p:sp>
      <p:sp>
        <p:nvSpPr>
          <p:cNvPr id="13" name="Shape 11"/>
          <p:cNvSpPr/>
          <p:nvPr/>
        </p:nvSpPr>
        <p:spPr>
          <a:xfrm>
            <a:off x="6675120" y="2514600"/>
            <a:ext cx="4846320" cy="475488"/>
          </a:xfrm>
          <a:prstGeom prst="roundRect">
            <a:avLst>
              <a:gd name="adj" fmla="val 15385"/>
            </a:avLst>
          </a:prstGeom>
          <a:solidFill>
            <a:srgbClr val="26272B"/>
          </a:solidFill>
          <a:ln w="12700">
            <a:solidFill>
              <a:srgbClr val="3A3B40"/>
            </a:solidFill>
            <a:prstDash val="solid"/>
          </a:ln>
        </p:spPr>
      </p:sp>
      <p:sp>
        <p:nvSpPr>
          <p:cNvPr id="14" name="Text 12"/>
          <p:cNvSpPr/>
          <p:nvPr/>
        </p:nvSpPr>
        <p:spPr>
          <a:xfrm>
            <a:off x="6903720" y="2514600"/>
            <a:ext cx="4389120" cy="475488"/>
          </a:xfrm>
          <a:prstGeom prst="rect">
            <a:avLst/>
          </a:prstGeom>
          <a:noFill/>
          <a:ln/>
        </p:spPr>
        <p:txBody>
          <a:bodyPr wrap="square" lIns="0" tIns="0" rIns="0" bIns="0" rtlCol="0" anchor="ctr"/>
          <a:lstStyle/>
          <a:p>
            <a:pPr indent="0" marL="0">
              <a:buNone/>
            </a:pPr>
            <a:r>
              <a:rPr lang="en-US" sz="1300" b="1" dirty="0">
                <a:solidFill>
                  <a:srgbClr val="FF6B5E"/>
                </a:solidFill>
                <a:latin typeface="Courier New" pitchFamily="34" charset="0"/>
                <a:ea typeface="Courier New" pitchFamily="34" charset="-122"/>
                <a:cs typeface="Courier New" pitchFamily="34" charset="-120"/>
              </a:rPr>
              <a:t>Close buttons ✗</a:t>
            </a:r>
            <a:endParaRPr lang="en-US" sz="1300" dirty="0"/>
          </a:p>
        </p:txBody>
      </p:sp>
      <p:sp>
        <p:nvSpPr>
          <p:cNvPr id="15" name="Shape 13"/>
          <p:cNvSpPr/>
          <p:nvPr/>
        </p:nvSpPr>
        <p:spPr>
          <a:xfrm>
            <a:off x="6675120" y="3136392"/>
            <a:ext cx="4846320" cy="475488"/>
          </a:xfrm>
          <a:prstGeom prst="roundRect">
            <a:avLst>
              <a:gd name="adj" fmla="val 15385"/>
            </a:avLst>
          </a:prstGeom>
          <a:solidFill>
            <a:srgbClr val="26272B"/>
          </a:solidFill>
          <a:ln w="12700">
            <a:solidFill>
              <a:srgbClr val="3A3B40"/>
            </a:solidFill>
            <a:prstDash val="solid"/>
          </a:ln>
        </p:spPr>
      </p:sp>
      <p:sp>
        <p:nvSpPr>
          <p:cNvPr id="16" name="Text 14"/>
          <p:cNvSpPr/>
          <p:nvPr/>
        </p:nvSpPr>
        <p:spPr>
          <a:xfrm>
            <a:off x="6903720" y="3136392"/>
            <a:ext cx="4389120" cy="475488"/>
          </a:xfrm>
          <a:prstGeom prst="rect">
            <a:avLst/>
          </a:prstGeom>
          <a:noFill/>
          <a:ln/>
        </p:spPr>
        <p:txBody>
          <a:bodyPr wrap="square" lIns="0" tIns="0" rIns="0" bIns="0" rtlCol="0" anchor="ctr"/>
          <a:lstStyle/>
          <a:p>
            <a:pPr indent="0" marL="0">
              <a:buNone/>
            </a:pPr>
            <a:r>
              <a:rPr lang="en-US" sz="1300" b="1" dirty="0">
                <a:solidFill>
                  <a:srgbClr val="FF6B5E"/>
                </a:solidFill>
                <a:latin typeface="Courier New" pitchFamily="34" charset="0"/>
                <a:ea typeface="Courier New" pitchFamily="34" charset="-122"/>
                <a:cs typeface="Courier New" pitchFamily="34" charset="-120"/>
              </a:rPr>
              <a:t>Escape key ✗</a:t>
            </a:r>
            <a:endParaRPr lang="en-US" sz="1300" dirty="0"/>
          </a:p>
        </p:txBody>
      </p:sp>
      <p:sp>
        <p:nvSpPr>
          <p:cNvPr id="17" name="Shape 15"/>
          <p:cNvSpPr/>
          <p:nvPr/>
        </p:nvSpPr>
        <p:spPr>
          <a:xfrm>
            <a:off x="6675120" y="3758184"/>
            <a:ext cx="4846320" cy="475488"/>
          </a:xfrm>
          <a:prstGeom prst="roundRect">
            <a:avLst>
              <a:gd name="adj" fmla="val 15385"/>
            </a:avLst>
          </a:prstGeom>
          <a:solidFill>
            <a:srgbClr val="26272B"/>
          </a:solidFill>
          <a:ln w="12700">
            <a:solidFill>
              <a:srgbClr val="3A3B40"/>
            </a:solidFill>
            <a:prstDash val="solid"/>
          </a:ln>
        </p:spPr>
      </p:sp>
      <p:sp>
        <p:nvSpPr>
          <p:cNvPr id="18" name="Text 16"/>
          <p:cNvSpPr/>
          <p:nvPr/>
        </p:nvSpPr>
        <p:spPr>
          <a:xfrm>
            <a:off x="6903720" y="3758184"/>
            <a:ext cx="4389120" cy="475488"/>
          </a:xfrm>
          <a:prstGeom prst="rect">
            <a:avLst/>
          </a:prstGeom>
          <a:noFill/>
          <a:ln/>
        </p:spPr>
        <p:txBody>
          <a:bodyPr wrap="square" lIns="0" tIns="0" rIns="0" bIns="0" rtlCol="0" anchor="ctr"/>
          <a:lstStyle/>
          <a:p>
            <a:pPr indent="0" marL="0">
              <a:buNone/>
            </a:pPr>
            <a:r>
              <a:rPr lang="en-US" sz="1300" b="1" dirty="0">
                <a:solidFill>
                  <a:srgbClr val="FF6B5E"/>
                </a:solidFill>
                <a:latin typeface="Courier New" pitchFamily="34" charset="0"/>
                <a:ea typeface="Courier New" pitchFamily="34" charset="-122"/>
                <a:cs typeface="Courier New" pitchFamily="34" charset="-120"/>
              </a:rPr>
              <a:t>Click-outside-to-close ✗</a:t>
            </a:r>
            <a:endParaRPr lang="en-US" sz="1300" dirty="0"/>
          </a:p>
        </p:txBody>
      </p:sp>
      <p:sp>
        <p:nvSpPr>
          <p:cNvPr id="19" name="Shape 17"/>
          <p:cNvSpPr/>
          <p:nvPr/>
        </p:nvSpPr>
        <p:spPr>
          <a:xfrm>
            <a:off x="6675120" y="4379976"/>
            <a:ext cx="4846320" cy="475488"/>
          </a:xfrm>
          <a:prstGeom prst="roundRect">
            <a:avLst>
              <a:gd name="adj" fmla="val 15385"/>
            </a:avLst>
          </a:prstGeom>
          <a:solidFill>
            <a:srgbClr val="26272B"/>
          </a:solidFill>
          <a:ln w="12700">
            <a:solidFill>
              <a:srgbClr val="3A3B40"/>
            </a:solidFill>
            <a:prstDash val="solid"/>
          </a:ln>
        </p:spPr>
      </p:sp>
      <p:sp>
        <p:nvSpPr>
          <p:cNvPr id="20" name="Text 18"/>
          <p:cNvSpPr/>
          <p:nvPr/>
        </p:nvSpPr>
        <p:spPr>
          <a:xfrm>
            <a:off x="6903720" y="4379976"/>
            <a:ext cx="4389120" cy="475488"/>
          </a:xfrm>
          <a:prstGeom prst="rect">
            <a:avLst/>
          </a:prstGeom>
          <a:noFill/>
          <a:ln/>
        </p:spPr>
        <p:txBody>
          <a:bodyPr wrap="square" lIns="0" tIns="0" rIns="0" bIns="0" rtlCol="0" anchor="ctr"/>
          <a:lstStyle/>
          <a:p>
            <a:pPr indent="0" marL="0">
              <a:buNone/>
            </a:pPr>
            <a:r>
              <a:rPr lang="en-US" sz="1300" b="1" dirty="0">
                <a:solidFill>
                  <a:srgbClr val="FF6B5E"/>
                </a:solidFill>
                <a:latin typeface="Courier New" pitchFamily="34" charset="0"/>
                <a:ea typeface="Courier New" pitchFamily="34" charset="-122"/>
                <a:cs typeface="Courier New" pitchFamily="34" charset="-120"/>
              </a:rPr>
              <a:t>Drag &amp; drop import ✗</a:t>
            </a:r>
            <a:endParaRPr lang="en-US" sz="1300" dirty="0"/>
          </a:p>
        </p:txBody>
      </p:sp>
      <p:sp>
        <p:nvSpPr>
          <p:cNvPr id="21" name="Shape 19"/>
          <p:cNvSpPr/>
          <p:nvPr/>
        </p:nvSpPr>
        <p:spPr>
          <a:xfrm>
            <a:off x="6675120" y="5001768"/>
            <a:ext cx="4846320" cy="475488"/>
          </a:xfrm>
          <a:prstGeom prst="roundRect">
            <a:avLst>
              <a:gd name="adj" fmla="val 15385"/>
            </a:avLst>
          </a:prstGeom>
          <a:solidFill>
            <a:srgbClr val="26272B"/>
          </a:solidFill>
          <a:ln w="12700">
            <a:solidFill>
              <a:srgbClr val="3A3B40"/>
            </a:solidFill>
            <a:prstDash val="solid"/>
          </a:ln>
        </p:spPr>
      </p:sp>
      <p:sp>
        <p:nvSpPr>
          <p:cNvPr id="22" name="Text 20"/>
          <p:cNvSpPr/>
          <p:nvPr/>
        </p:nvSpPr>
        <p:spPr>
          <a:xfrm>
            <a:off x="6903720" y="5001768"/>
            <a:ext cx="4389120" cy="475488"/>
          </a:xfrm>
          <a:prstGeom prst="rect">
            <a:avLst/>
          </a:prstGeom>
          <a:noFill/>
          <a:ln/>
        </p:spPr>
        <p:txBody>
          <a:bodyPr wrap="square" lIns="0" tIns="0" rIns="0" bIns="0" rtlCol="0" anchor="ctr"/>
          <a:lstStyle/>
          <a:p>
            <a:pPr indent="0" marL="0">
              <a:buNone/>
            </a:pPr>
            <a:r>
              <a:rPr lang="en-US" sz="1300" b="1" dirty="0">
                <a:solidFill>
                  <a:srgbClr val="FF6B5E"/>
                </a:solidFill>
                <a:latin typeface="Courier New" pitchFamily="34" charset="0"/>
                <a:ea typeface="Courier New" pitchFamily="34" charset="-122"/>
                <a:cs typeface="Courier New" pitchFamily="34" charset="-120"/>
              </a:rPr>
              <a:t>Unsaved-changes warning ✗</a:t>
            </a:r>
            <a:endParaRPr lang="en-US" sz="1300" dirty="0"/>
          </a:p>
        </p:txBody>
      </p:sp>
      <p:sp>
        <p:nvSpPr>
          <p:cNvPr id="23" name="Text 21"/>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55565B"/>
                </a:solidFill>
                <a:latin typeface="Calibri" pitchFamily="34" charset="0"/>
                <a:ea typeface="Calibri" pitchFamily="34" charset="-122"/>
                <a:cs typeface="Calibri" pitchFamily="34" charset="-120"/>
              </a:rPr>
              <a:t>PLAYTAPE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C1F"/>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9A9BA0"/>
                </a:solidFill>
                <a:latin typeface="Calibri" pitchFamily="34" charset="0"/>
                <a:ea typeface="Calibri" pitchFamily="34" charset="-122"/>
                <a:cs typeface="Calibri" pitchFamily="34" charset="-120"/>
              </a:rPr>
              <a:t>BUG #3</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The install that wasn't</a:t>
            </a:r>
            <a:endParaRPr lang="en-US" sz="3000" dirty="0"/>
          </a:p>
        </p:txBody>
      </p:sp>
      <p:sp>
        <p:nvSpPr>
          <p:cNvPr id="5" name="Text 3"/>
          <p:cNvSpPr/>
          <p:nvPr/>
        </p:nvSpPr>
        <p:spPr>
          <a:xfrm>
            <a:off x="658368" y="1737360"/>
            <a:ext cx="10911535" cy="640080"/>
          </a:xfrm>
          <a:prstGeom prst="rect">
            <a:avLst/>
          </a:prstGeom>
          <a:noFill/>
          <a:ln/>
        </p:spPr>
        <p:txBody>
          <a:bodyPr wrap="square" lIns="0" tIns="0" rIns="0" bIns="0" rtlCol="0" anchor="ctr"/>
          <a:lstStyle/>
          <a:p>
            <a:pPr indent="0" marL="0">
              <a:lnSpc>
                <a:spcPct val="120000"/>
              </a:lnSpc>
              <a:buNone/>
            </a:pPr>
            <a:r>
              <a:rPr lang="en-US" sz="1500" dirty="0">
                <a:solidFill>
                  <a:srgbClr val="E8E9E6"/>
                </a:solidFill>
                <a:latin typeface="Calibri" pitchFamily="34" charset="0"/>
                <a:ea typeface="Calibri" pitchFamily="34" charset="-122"/>
                <a:cs typeface="Calibri" pitchFamily="34" charset="-120"/>
              </a:rPr>
              <a:t>Every automated check said the app had updated. The actual desktop icon kept opening yesterday's version.</a:t>
            </a:r>
            <a:endParaRPr lang="en-US" sz="1500" dirty="0"/>
          </a:p>
        </p:txBody>
      </p:sp>
      <p:sp>
        <p:nvSpPr>
          <p:cNvPr id="6" name="Shape 4"/>
          <p:cNvSpPr/>
          <p:nvPr/>
        </p:nvSpPr>
        <p:spPr>
          <a:xfrm>
            <a:off x="1097280" y="2606040"/>
            <a:ext cx="4663440" cy="2651760"/>
          </a:xfrm>
          <a:prstGeom prst="roundRect">
            <a:avLst>
              <a:gd name="adj" fmla="val 3103"/>
            </a:avLst>
          </a:prstGeom>
          <a:solidFill>
            <a:srgbClr val="26272B"/>
          </a:solidFill>
          <a:ln/>
          <a:effectLst>
            <a:outerShdw sx="100000" sy="100000" kx="0" ky="0" algn="bl" rotWithShape="0" blurRad="127000" dist="38100" dir="5400000">
              <a:srgbClr val="000000">
                <a:alpha val="16000"/>
              </a:srgbClr>
            </a:outerShdw>
          </a:effectLst>
        </p:spPr>
      </p:sp>
      <p:sp>
        <p:nvSpPr>
          <p:cNvPr id="7" name="Shape 5"/>
          <p:cNvSpPr/>
          <p:nvPr/>
        </p:nvSpPr>
        <p:spPr>
          <a:xfrm>
            <a:off x="1417320" y="2971800"/>
            <a:ext cx="777240" cy="77724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8" name="Image 0" descr="preencoded.png"/>
          <p:cNvPicPr>
            <a:picLocks noChangeAspect="1"/>
          </p:cNvPicPr>
          <p:nvPr/>
        </p:nvPicPr>
        <p:blipFill>
          <a:blip r:embed="rId1"/>
          <a:stretch>
            <a:fillRect/>
          </a:stretch>
        </p:blipFill>
        <p:spPr>
          <a:xfrm>
            <a:off x="1603858" y="3158338"/>
            <a:ext cx="404165" cy="404165"/>
          </a:xfrm>
          <a:prstGeom prst="rect">
            <a:avLst/>
          </a:prstGeom>
        </p:spPr>
      </p:pic>
      <p:sp>
        <p:nvSpPr>
          <p:cNvPr id="9" name="Text 6"/>
          <p:cNvSpPr/>
          <p:nvPr/>
        </p:nvSpPr>
        <p:spPr>
          <a:xfrm>
            <a:off x="1097280" y="3931920"/>
            <a:ext cx="46634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The AI's writes</a:t>
            </a:r>
            <a:endParaRPr lang="en-US" sz="1500" dirty="0"/>
          </a:p>
        </p:txBody>
      </p:sp>
      <p:sp>
        <p:nvSpPr>
          <p:cNvPr id="10" name="Text 7"/>
          <p:cNvSpPr/>
          <p:nvPr/>
        </p:nvSpPr>
        <p:spPr>
          <a:xfrm>
            <a:off x="1417320" y="4343400"/>
            <a:ext cx="4023360" cy="731520"/>
          </a:xfrm>
          <a:prstGeom prst="rect">
            <a:avLst/>
          </a:prstGeom>
          <a:noFill/>
          <a:ln/>
        </p:spPr>
        <p:txBody>
          <a:bodyPr wrap="square" lIns="0" tIns="0" rIns="0" bIns="0" rtlCol="0" anchor="ctr"/>
          <a:lstStyle/>
          <a:p>
            <a:pPr algn="ctr" indent="0" marL="0">
              <a:lnSpc>
                <a:spcPct val="115000"/>
              </a:lnSpc>
              <a:buNone/>
            </a:pPr>
            <a:r>
              <a:rPr lang="en-US" sz="1250" dirty="0">
                <a:solidFill>
                  <a:srgbClr val="9A9BA0"/>
                </a:solidFill>
                <a:latin typeface="Calibri" pitchFamily="34" charset="0"/>
                <a:ea typeface="Calibri" pitchFamily="34" charset="-122"/>
                <a:cs typeface="Calibri" pitchFamily="34" charset="-120"/>
              </a:rPr>
              <a:t>Landed in a private, virtualized copy — invisible outside its own process.</a:t>
            </a:r>
            <a:endParaRPr lang="en-US" sz="1250" dirty="0"/>
          </a:p>
        </p:txBody>
      </p:sp>
      <p:sp>
        <p:nvSpPr>
          <p:cNvPr id="11" name="Shape 8"/>
          <p:cNvSpPr/>
          <p:nvPr/>
        </p:nvSpPr>
        <p:spPr>
          <a:xfrm>
            <a:off x="6430975" y="2606040"/>
            <a:ext cx="4663440" cy="2651760"/>
          </a:xfrm>
          <a:prstGeom prst="roundRect">
            <a:avLst>
              <a:gd name="adj" fmla="val 3103"/>
            </a:avLst>
          </a:prstGeom>
          <a:solidFill>
            <a:srgbClr val="26272B"/>
          </a:solidFill>
          <a:ln/>
          <a:effectLst>
            <a:outerShdw sx="100000" sy="100000" kx="0" ky="0" algn="bl" rotWithShape="0" blurRad="127000" dist="38100" dir="5400000">
              <a:srgbClr val="000000">
                <a:alpha val="16000"/>
              </a:srgbClr>
            </a:outerShdw>
          </a:effectLst>
        </p:spPr>
      </p:sp>
      <p:sp>
        <p:nvSpPr>
          <p:cNvPr id="12" name="Shape 9"/>
          <p:cNvSpPr/>
          <p:nvPr/>
        </p:nvSpPr>
        <p:spPr>
          <a:xfrm>
            <a:off x="6751015" y="2971800"/>
            <a:ext cx="777240" cy="77724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3" name="Image 1" descr="preencoded.png"/>
          <p:cNvPicPr>
            <a:picLocks noChangeAspect="1"/>
          </p:cNvPicPr>
          <p:nvPr/>
        </p:nvPicPr>
        <p:blipFill>
          <a:blip r:embed="rId2"/>
          <a:stretch>
            <a:fillRect/>
          </a:stretch>
        </p:blipFill>
        <p:spPr>
          <a:xfrm>
            <a:off x="6937553" y="3158338"/>
            <a:ext cx="404165" cy="404165"/>
          </a:xfrm>
          <a:prstGeom prst="rect">
            <a:avLst/>
          </a:prstGeom>
        </p:spPr>
      </p:pic>
      <p:sp>
        <p:nvSpPr>
          <p:cNvPr id="14" name="Text 10"/>
          <p:cNvSpPr/>
          <p:nvPr/>
        </p:nvSpPr>
        <p:spPr>
          <a:xfrm>
            <a:off x="6430975" y="3931920"/>
            <a:ext cx="46634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Desktop writes</a:t>
            </a:r>
            <a:endParaRPr lang="en-US" sz="1500" dirty="0"/>
          </a:p>
        </p:txBody>
      </p:sp>
      <p:sp>
        <p:nvSpPr>
          <p:cNvPr id="15" name="Text 11"/>
          <p:cNvSpPr/>
          <p:nvPr/>
        </p:nvSpPr>
        <p:spPr>
          <a:xfrm>
            <a:off x="6751015" y="4343400"/>
            <a:ext cx="4023360" cy="731520"/>
          </a:xfrm>
          <a:prstGeom prst="rect">
            <a:avLst/>
          </a:prstGeom>
          <a:noFill/>
          <a:ln/>
        </p:spPr>
        <p:txBody>
          <a:bodyPr wrap="square" lIns="0" tIns="0" rIns="0" bIns="0" rtlCol="0" anchor="ctr"/>
          <a:lstStyle/>
          <a:p>
            <a:pPr algn="ctr" indent="0" marL="0">
              <a:lnSpc>
                <a:spcPct val="115000"/>
              </a:lnSpc>
              <a:buNone/>
            </a:pPr>
            <a:r>
              <a:rPr lang="en-US" sz="1250" dirty="0">
                <a:solidFill>
                  <a:srgbClr val="9A9BA0"/>
                </a:solidFill>
                <a:latin typeface="Calibri" pitchFamily="34" charset="0"/>
                <a:ea typeface="Calibri" pitchFamily="34" charset="-122"/>
                <a:cs typeface="Calibri" pitchFamily="34" charset="-120"/>
              </a:rPr>
              <a:t>The real thing — exactly what the shortcut actually opens.</a:t>
            </a:r>
            <a:endParaRPr lang="en-US" sz="1250" dirty="0"/>
          </a:p>
        </p:txBody>
      </p:sp>
      <p:sp>
        <p:nvSpPr>
          <p:cNvPr id="16" name="Shape 12"/>
          <p:cNvSpPr/>
          <p:nvPr/>
        </p:nvSpPr>
        <p:spPr>
          <a:xfrm>
            <a:off x="5897880" y="3931920"/>
            <a:ext cx="533095" cy="0"/>
          </a:xfrm>
          <a:prstGeom prst="line">
            <a:avLst/>
          </a:prstGeom>
          <a:noFill/>
          <a:ln w="19050">
            <a:solidFill>
              <a:srgbClr val="55565B"/>
            </a:solidFill>
            <a:prstDash val="dash"/>
          </a:ln>
        </p:spPr>
      </p:sp>
      <p:sp>
        <p:nvSpPr>
          <p:cNvPr id="17" name="Text 13"/>
          <p:cNvSpPr/>
          <p:nvPr/>
        </p:nvSpPr>
        <p:spPr>
          <a:xfrm>
            <a:off x="640080" y="5532120"/>
            <a:ext cx="10911535" cy="548640"/>
          </a:xfrm>
          <a:prstGeom prst="rect">
            <a:avLst/>
          </a:prstGeom>
          <a:noFill/>
          <a:ln/>
        </p:spPr>
        <p:txBody>
          <a:bodyPr wrap="square" lIns="0" tIns="0" rIns="0" bIns="0" rtlCol="0" anchor="ctr"/>
          <a:lstStyle/>
          <a:p>
            <a:pPr algn="ctr" indent="0" marL="0">
              <a:buNone/>
            </a:pPr>
            <a:r>
              <a:rPr lang="en-US" sz="1350" i="1" dirty="0">
                <a:solidFill>
                  <a:srgbClr val="FF5C1F"/>
                </a:solidFill>
                <a:latin typeface="Calibri" pitchFamily="34" charset="0"/>
                <a:ea typeface="Calibri" pitchFamily="34" charset="-122"/>
                <a:cs typeface="Calibri" pitchFamily="34" charset="-120"/>
              </a:rPr>
              <a:t>Fix: deliver to a real, non-virtualized location — and log every launch so failures are diagnosable, not silent.</a:t>
            </a:r>
            <a:endParaRPr lang="en-US" sz="1350" dirty="0"/>
          </a:p>
        </p:txBody>
      </p:sp>
      <p:sp>
        <p:nvSpPr>
          <p:cNvPr id="18" name="Text 14"/>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55565B"/>
                </a:solidFill>
                <a:latin typeface="Calibri" pitchFamily="34" charset="0"/>
                <a:ea typeface="Calibri" pitchFamily="34" charset="-122"/>
                <a:cs typeface="Calibri" pitchFamily="34" charset="-120"/>
              </a:rPr>
              <a:t>PLAYTAPE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C1F"/>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9A9BA0"/>
                </a:solidFill>
                <a:latin typeface="Calibri" pitchFamily="34" charset="0"/>
                <a:ea typeface="Calibri" pitchFamily="34" charset="-122"/>
                <a:cs typeface="Calibri" pitchFamily="34" charset="-120"/>
              </a:rPr>
              <a:t>THE LESSON</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What vibecoding is actually good at — honestly</a:t>
            </a:r>
            <a:endParaRPr lang="en-US" sz="3000" dirty="0"/>
          </a:p>
        </p:txBody>
      </p:sp>
      <p:sp>
        <p:nvSpPr>
          <p:cNvPr id="5" name="Shape 3"/>
          <p:cNvSpPr/>
          <p:nvPr/>
        </p:nvSpPr>
        <p:spPr>
          <a:xfrm>
            <a:off x="640080" y="1783080"/>
            <a:ext cx="5227168" cy="3429000"/>
          </a:xfrm>
          <a:prstGeom prst="roundRect">
            <a:avLst>
              <a:gd name="adj" fmla="val 2400"/>
            </a:avLst>
          </a:prstGeom>
          <a:solidFill>
            <a:srgbClr val="26272B"/>
          </a:solidFill>
          <a:ln/>
          <a:effectLst>
            <a:outerShdw sx="100000" sy="100000" kx="0" ky="0" algn="bl" rotWithShape="0" blurRad="127000" dist="38100" dir="5400000">
              <a:srgbClr val="000000">
                <a:alpha val="16000"/>
              </a:srgbClr>
            </a:outerShdw>
          </a:effectLst>
        </p:spPr>
      </p:sp>
      <p:sp>
        <p:nvSpPr>
          <p:cNvPr id="6" name="Shape 4"/>
          <p:cNvSpPr/>
          <p:nvPr/>
        </p:nvSpPr>
        <p:spPr>
          <a:xfrm>
            <a:off x="914400" y="2057400"/>
            <a:ext cx="146304" cy="146304"/>
          </a:xfrm>
          <a:prstGeom prst="ellipse">
            <a:avLst/>
          </a:prstGeom>
          <a:solidFill>
            <a:srgbClr val="30D65C"/>
          </a:solidFill>
          <a:ln/>
        </p:spPr>
      </p:sp>
      <p:sp>
        <p:nvSpPr>
          <p:cNvPr id="7" name="Text 5"/>
          <p:cNvSpPr/>
          <p:nvPr/>
        </p:nvSpPr>
        <p:spPr>
          <a:xfrm>
            <a:off x="1143000" y="1965960"/>
            <a:ext cx="4312768"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Genuinely good at</a:t>
            </a:r>
            <a:endParaRPr lang="en-US" sz="1600" dirty="0"/>
          </a:p>
        </p:txBody>
      </p:sp>
      <p:sp>
        <p:nvSpPr>
          <p:cNvPr id="8" name="Text 6"/>
          <p:cNvSpPr/>
          <p:nvPr/>
        </p:nvSpPr>
        <p:spPr>
          <a:xfrm>
            <a:off x="1143000" y="2514600"/>
            <a:ext cx="4312768" cy="256032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350" dirty="0">
                <a:solidFill>
                  <a:srgbClr val="E8E9E6"/>
                </a:solidFill>
                <a:latin typeface="Calibri" pitchFamily="34" charset="0"/>
                <a:ea typeface="Calibri" pitchFamily="34" charset="-122"/>
                <a:cs typeface="Calibri" pitchFamily="34" charset="-120"/>
              </a:rPr>
              <a:t>Iteration speed on UI and features</a:t>
            </a:r>
            <a:endParaRPr lang="en-US" sz="1350" dirty="0"/>
          </a:p>
          <a:p>
            <a:pPr marL="342900" indent="-342900">
              <a:lnSpc>
                <a:spcPct val="130000"/>
              </a:lnSpc>
              <a:spcAft>
                <a:spcPts val="1000"/>
              </a:spcAft>
              <a:buSzPct val="100000"/>
              <a:buChar char="•"/>
            </a:pPr>
            <a:r>
              <a:rPr lang="en-US" sz="1350" dirty="0">
                <a:solidFill>
                  <a:srgbClr val="E8E9E6"/>
                </a:solidFill>
                <a:latin typeface="Calibri" pitchFamily="34" charset="0"/>
                <a:ea typeface="Calibri" pitchFamily="34" charset="-122"/>
                <a:cs typeface="Calibri" pitchFamily="34" charset="-120"/>
              </a:rPr>
              <a:t>Finding performance issues a human might not think to profile</a:t>
            </a:r>
            <a:endParaRPr lang="en-US" sz="1350" dirty="0"/>
          </a:p>
          <a:p>
            <a:pPr marL="342900" indent="-342900">
              <a:lnSpc>
                <a:spcPct val="130000"/>
              </a:lnSpc>
              <a:spcAft>
                <a:spcPts val="1000"/>
              </a:spcAft>
              <a:buSzPct val="100000"/>
              <a:buChar char="•"/>
            </a:pPr>
            <a:r>
              <a:rPr lang="en-US" sz="1350" dirty="0">
                <a:solidFill>
                  <a:srgbClr val="E8E9E6"/>
                </a:solidFill>
                <a:latin typeface="Calibri" pitchFamily="34" charset="0"/>
                <a:ea typeface="Calibri" pitchFamily="34" charset="-122"/>
                <a:cs typeface="Calibri" pitchFamily="34" charset="-120"/>
              </a:rPr>
              <a:t>Fearless refactors with fast feedback</a:t>
            </a:r>
            <a:endParaRPr lang="en-US" sz="1350" dirty="0"/>
          </a:p>
        </p:txBody>
      </p:sp>
      <p:sp>
        <p:nvSpPr>
          <p:cNvPr id="9" name="Shape 7"/>
          <p:cNvSpPr/>
          <p:nvPr/>
        </p:nvSpPr>
        <p:spPr>
          <a:xfrm>
            <a:off x="6324448" y="1783080"/>
            <a:ext cx="5227168" cy="3429000"/>
          </a:xfrm>
          <a:prstGeom prst="roundRect">
            <a:avLst>
              <a:gd name="adj" fmla="val 2400"/>
            </a:avLst>
          </a:prstGeom>
          <a:solidFill>
            <a:srgbClr val="26272B"/>
          </a:solidFill>
          <a:ln/>
          <a:effectLst>
            <a:outerShdw sx="100000" sy="100000" kx="0" ky="0" algn="bl" rotWithShape="0" blurRad="127000" dist="38100" dir="5400000">
              <a:srgbClr val="000000">
                <a:alpha val="16000"/>
              </a:srgbClr>
            </a:outerShdw>
          </a:effectLst>
        </p:spPr>
      </p:sp>
      <p:sp>
        <p:nvSpPr>
          <p:cNvPr id="10" name="Shape 8"/>
          <p:cNvSpPr/>
          <p:nvPr/>
        </p:nvSpPr>
        <p:spPr>
          <a:xfrm>
            <a:off x="6598768" y="2057400"/>
            <a:ext cx="146304" cy="146304"/>
          </a:xfrm>
          <a:prstGeom prst="ellipse">
            <a:avLst/>
          </a:prstGeom>
          <a:solidFill>
            <a:srgbClr val="FF5C1F"/>
          </a:solidFill>
          <a:ln/>
        </p:spPr>
      </p:sp>
      <p:sp>
        <p:nvSpPr>
          <p:cNvPr id="11" name="Text 9"/>
          <p:cNvSpPr/>
          <p:nvPr/>
        </p:nvSpPr>
        <p:spPr>
          <a:xfrm>
            <a:off x="6827368" y="1965960"/>
            <a:ext cx="4312768"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Not proven at, yet</a:t>
            </a:r>
            <a:endParaRPr lang="en-US" sz="1600" dirty="0"/>
          </a:p>
        </p:txBody>
      </p:sp>
      <p:sp>
        <p:nvSpPr>
          <p:cNvPr id="12" name="Text 10"/>
          <p:cNvSpPr/>
          <p:nvPr/>
        </p:nvSpPr>
        <p:spPr>
          <a:xfrm>
            <a:off x="6827368" y="2514600"/>
            <a:ext cx="4312768" cy="256032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350" dirty="0">
                <a:solidFill>
                  <a:srgbClr val="E8E9E6"/>
                </a:solidFill>
                <a:latin typeface="Calibri" pitchFamily="34" charset="0"/>
                <a:ea typeface="Calibri" pitchFamily="34" charset="-122"/>
                <a:cs typeface="Calibri" pitchFamily="34" charset="-120"/>
              </a:rPr>
              <a:t>Testing the way a real user actually clicks</a:t>
            </a:r>
            <a:endParaRPr lang="en-US" sz="1350" dirty="0"/>
          </a:p>
          <a:p>
            <a:pPr marL="342900" indent="-342900">
              <a:lnSpc>
                <a:spcPct val="130000"/>
              </a:lnSpc>
              <a:spcAft>
                <a:spcPts val="1000"/>
              </a:spcAft>
              <a:buSzPct val="100000"/>
              <a:buChar char="•"/>
            </a:pPr>
            <a:r>
              <a:rPr lang="en-US" sz="1350" dirty="0">
                <a:solidFill>
                  <a:srgbClr val="E8E9E6"/>
                </a:solidFill>
                <a:latin typeface="Calibri" pitchFamily="34" charset="0"/>
                <a:ea typeface="Calibri" pitchFamily="34" charset="-122"/>
                <a:cs typeface="Calibri" pitchFamily="34" charset="-120"/>
              </a:rPr>
              <a:t>Catching platform-specific sandboxing quirks</a:t>
            </a:r>
            <a:endParaRPr lang="en-US" sz="1350" dirty="0"/>
          </a:p>
          <a:p>
            <a:pPr marL="342900" indent="-342900">
              <a:lnSpc>
                <a:spcPct val="130000"/>
              </a:lnSpc>
              <a:spcAft>
                <a:spcPts val="1000"/>
              </a:spcAft>
              <a:buSzPct val="100000"/>
              <a:buChar char="•"/>
            </a:pPr>
            <a:r>
              <a:rPr lang="en-US" sz="1350" dirty="0">
                <a:solidFill>
                  <a:srgbClr val="E8E9E6"/>
                </a:solidFill>
                <a:latin typeface="Calibri" pitchFamily="34" charset="0"/>
                <a:ea typeface="Calibri" pitchFamily="34" charset="-122"/>
                <a:cs typeface="Calibri" pitchFamily="34" charset="-120"/>
              </a:rPr>
              <a:t>Replacing a human who pushes back on “it works”</a:t>
            </a:r>
            <a:endParaRPr lang="en-US" sz="1350" dirty="0"/>
          </a:p>
        </p:txBody>
      </p:sp>
      <p:sp>
        <p:nvSpPr>
          <p:cNvPr id="13" name="Text 11"/>
          <p:cNvSpPr/>
          <p:nvPr/>
        </p:nvSpPr>
        <p:spPr>
          <a:xfrm>
            <a:off x="640080" y="5440680"/>
            <a:ext cx="10911535" cy="548640"/>
          </a:xfrm>
          <a:prstGeom prst="rect">
            <a:avLst/>
          </a:prstGeom>
          <a:noFill/>
          <a:ln/>
        </p:spPr>
        <p:txBody>
          <a:bodyPr wrap="square" lIns="0" tIns="0" rIns="0" bIns="0" rtlCol="0" anchor="ctr"/>
          <a:lstStyle/>
          <a:p>
            <a:pPr algn="ctr" indent="0" marL="0">
              <a:buNone/>
            </a:pPr>
            <a:r>
              <a:rPr lang="en-US" sz="1600" b="1" dirty="0">
                <a:solidFill>
                  <a:srgbClr val="FF5C1F"/>
                </a:solidFill>
                <a:latin typeface="Calibri" pitchFamily="34" charset="0"/>
                <a:ea typeface="Calibri" pitchFamily="34" charset="-122"/>
                <a:cs typeface="Calibri" pitchFamily="34" charset="-120"/>
              </a:rPr>
              <a:t>The human was the test suite. Fine at this scale — not proven at a bigger one.</a:t>
            </a:r>
            <a:endParaRPr lang="en-US" sz="1600" dirty="0"/>
          </a:p>
        </p:txBody>
      </p:sp>
      <p:sp>
        <p:nvSpPr>
          <p:cNvPr id="14" name="Text 12"/>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55565B"/>
                </a:solidFill>
                <a:latin typeface="Calibri" pitchFamily="34" charset="0"/>
                <a:ea typeface="Calibri" pitchFamily="34" charset="-122"/>
                <a:cs typeface="Calibri" pitchFamily="34" charset="-120"/>
              </a:rPr>
              <a:t>PLAYTAPE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ECE8"/>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787A76"/>
                </a:solidFill>
                <a:latin typeface="Calibri" pitchFamily="34" charset="0"/>
                <a:ea typeface="Calibri" pitchFamily="34" charset="-122"/>
                <a:cs typeface="Calibri" pitchFamily="34" charset="-120"/>
              </a:rPr>
              <a:t>UNDER THE HOOD</a:t>
            </a:r>
            <a:endParaRPr lang="en-US" sz="1100" dirty="0"/>
          </a:p>
        </p:txBody>
      </p:sp>
      <p:sp>
        <p:nvSpPr>
          <p:cNvPr id="4" name="Text 2"/>
          <p:cNvSpPr/>
          <p:nvPr/>
        </p:nvSpPr>
        <p:spPr>
          <a:xfrm>
            <a:off x="640080" y="1051560"/>
            <a:ext cx="10911535" cy="548640"/>
          </a:xfrm>
          <a:prstGeom prst="rect">
            <a:avLst/>
          </a:prstGeom>
          <a:noFill/>
          <a:ln/>
        </p:spPr>
        <p:txBody>
          <a:bodyPr wrap="square" lIns="0" tIns="0" rIns="0" bIns="0" rtlCol="0" anchor="t"/>
          <a:lstStyle/>
          <a:p>
            <a:pPr indent="0" marL="0">
              <a:buNone/>
            </a:pPr>
            <a:r>
              <a:rPr lang="en-US" sz="3000" b="1" dirty="0">
                <a:solidFill>
                  <a:srgbClr val="232428"/>
                </a:solidFill>
                <a:latin typeface="Calibri" pitchFamily="34" charset="0"/>
                <a:ea typeface="Calibri" pitchFamily="34" charset="-122"/>
                <a:cs typeface="Calibri" pitchFamily="34" charset="-120"/>
              </a:rPr>
              <a:t>No bundler, no Node, no Electron — on purpose</a:t>
            </a:r>
            <a:endParaRPr lang="en-US" sz="3000" dirty="0"/>
          </a:p>
        </p:txBody>
      </p:sp>
      <p:sp>
        <p:nvSpPr>
          <p:cNvPr id="5" name="Shape 3"/>
          <p:cNvSpPr/>
          <p:nvPr/>
        </p:nvSpPr>
        <p:spPr>
          <a:xfrm>
            <a:off x="640080" y="1828800"/>
            <a:ext cx="2453564" cy="2286000"/>
          </a:xfrm>
          <a:prstGeom prst="roundRect">
            <a:avLst>
              <a:gd name="adj" fmla="val 3600"/>
            </a:avLst>
          </a:prstGeom>
          <a:solidFill>
            <a:srgbClr val="FFFFFF"/>
          </a:solidFill>
          <a:ln/>
          <a:effectLst>
            <a:outerShdw sx="100000" sy="100000" kx="0" ky="0" algn="bl" rotWithShape="0" blurRad="127000" dist="38100" dir="5400000">
              <a:srgbClr val="000000">
                <a:alpha val="16000"/>
              </a:srgbClr>
            </a:outerShdw>
          </a:effectLst>
        </p:spPr>
      </p:sp>
      <p:sp>
        <p:nvSpPr>
          <p:cNvPr id="6" name="Shape 4"/>
          <p:cNvSpPr/>
          <p:nvPr/>
        </p:nvSpPr>
        <p:spPr>
          <a:xfrm>
            <a:off x="1546822" y="2103120"/>
            <a:ext cx="640080" cy="64008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7" name="Image 0" descr="preencoded.png"/>
          <p:cNvPicPr>
            <a:picLocks noChangeAspect="1"/>
          </p:cNvPicPr>
          <p:nvPr/>
        </p:nvPicPr>
        <p:blipFill>
          <a:blip r:embed="rId1"/>
          <a:stretch>
            <a:fillRect/>
          </a:stretch>
        </p:blipFill>
        <p:spPr>
          <a:xfrm>
            <a:off x="1700441" y="2256739"/>
            <a:ext cx="332842" cy="332842"/>
          </a:xfrm>
          <a:prstGeom prst="rect">
            <a:avLst/>
          </a:prstGeom>
        </p:spPr>
      </p:pic>
      <p:sp>
        <p:nvSpPr>
          <p:cNvPr id="8" name="Text 5"/>
          <p:cNvSpPr/>
          <p:nvPr/>
        </p:nvSpPr>
        <p:spPr>
          <a:xfrm>
            <a:off x="777240" y="3017520"/>
            <a:ext cx="2179244" cy="365760"/>
          </a:xfrm>
          <a:prstGeom prst="rect">
            <a:avLst/>
          </a:prstGeom>
          <a:noFill/>
          <a:ln/>
        </p:spPr>
        <p:txBody>
          <a:bodyPr wrap="square" lIns="0" tIns="0" rIns="0" bIns="0" rtlCol="0" anchor="ctr"/>
          <a:lstStyle/>
          <a:p>
            <a:pPr algn="ctr" indent="0" marL="0">
              <a:buNone/>
            </a:pPr>
            <a:r>
              <a:rPr lang="en-US" sz="1350" b="1" dirty="0">
                <a:solidFill>
                  <a:srgbClr val="232428"/>
                </a:solidFill>
                <a:latin typeface="Calibri" pitchFamily="34" charset="0"/>
                <a:ea typeface="Calibri" pitchFamily="34" charset="-122"/>
                <a:cs typeface="Calibri" pitchFamily="34" charset="-120"/>
              </a:rPr>
              <a:t>AudioWorklet</a:t>
            </a:r>
            <a:endParaRPr lang="en-US" sz="1350" dirty="0"/>
          </a:p>
        </p:txBody>
      </p:sp>
      <p:sp>
        <p:nvSpPr>
          <p:cNvPr id="9" name="Text 6"/>
          <p:cNvSpPr/>
          <p:nvPr/>
        </p:nvSpPr>
        <p:spPr>
          <a:xfrm>
            <a:off x="777240" y="3410712"/>
            <a:ext cx="2179244" cy="640080"/>
          </a:xfrm>
          <a:prstGeom prst="rect">
            <a:avLst/>
          </a:prstGeom>
          <a:noFill/>
          <a:ln/>
        </p:spPr>
        <p:txBody>
          <a:bodyPr wrap="square" lIns="0" tIns="0" rIns="0" bIns="0" rtlCol="0" anchor="ctr"/>
          <a:lstStyle/>
          <a:p>
            <a:pPr algn="ctr" indent="0" marL="0">
              <a:lnSpc>
                <a:spcPct val="115000"/>
              </a:lnSpc>
              <a:buNone/>
            </a:pPr>
            <a:r>
              <a:rPr lang="en-US" sz="1100" dirty="0">
                <a:solidFill>
                  <a:srgbClr val="787A76"/>
                </a:solidFill>
                <a:latin typeface="Calibri" pitchFamily="34" charset="0"/>
                <a:ea typeface="Calibri" pitchFamily="34" charset="-122"/>
                <a:cs typeface="Calibri" pitchFamily="34" charset="-120"/>
              </a:rPr>
              <a:t>Sample-accurate recording</a:t>
            </a:r>
            <a:endParaRPr lang="en-US" sz="1100" dirty="0"/>
          </a:p>
        </p:txBody>
      </p:sp>
      <p:sp>
        <p:nvSpPr>
          <p:cNvPr id="10" name="Shape 7"/>
          <p:cNvSpPr/>
          <p:nvPr/>
        </p:nvSpPr>
        <p:spPr>
          <a:xfrm>
            <a:off x="3459404" y="1828800"/>
            <a:ext cx="2453564" cy="2286000"/>
          </a:xfrm>
          <a:prstGeom prst="roundRect">
            <a:avLst>
              <a:gd name="adj" fmla="val 3600"/>
            </a:avLst>
          </a:prstGeom>
          <a:solidFill>
            <a:srgbClr val="FFFFFF"/>
          </a:solidFill>
          <a:ln/>
          <a:effectLst>
            <a:outerShdw sx="100000" sy="100000" kx="0" ky="0" algn="bl" rotWithShape="0" blurRad="127000" dist="38100" dir="5400000">
              <a:srgbClr val="000000">
                <a:alpha val="16000"/>
              </a:srgbClr>
            </a:outerShdw>
          </a:effectLst>
        </p:spPr>
      </p:sp>
      <p:sp>
        <p:nvSpPr>
          <p:cNvPr id="11" name="Shape 8"/>
          <p:cNvSpPr/>
          <p:nvPr/>
        </p:nvSpPr>
        <p:spPr>
          <a:xfrm>
            <a:off x="4366146" y="2103120"/>
            <a:ext cx="640080" cy="64008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2" name="Image 1" descr="preencoded.png"/>
          <p:cNvPicPr>
            <a:picLocks noChangeAspect="1"/>
          </p:cNvPicPr>
          <p:nvPr/>
        </p:nvPicPr>
        <p:blipFill>
          <a:blip r:embed="rId2"/>
          <a:stretch>
            <a:fillRect/>
          </a:stretch>
        </p:blipFill>
        <p:spPr>
          <a:xfrm>
            <a:off x="4519765" y="2256739"/>
            <a:ext cx="332842" cy="332842"/>
          </a:xfrm>
          <a:prstGeom prst="rect">
            <a:avLst/>
          </a:prstGeom>
        </p:spPr>
      </p:pic>
      <p:sp>
        <p:nvSpPr>
          <p:cNvPr id="13" name="Text 9"/>
          <p:cNvSpPr/>
          <p:nvPr/>
        </p:nvSpPr>
        <p:spPr>
          <a:xfrm>
            <a:off x="3596564" y="3017520"/>
            <a:ext cx="2179244" cy="365760"/>
          </a:xfrm>
          <a:prstGeom prst="rect">
            <a:avLst/>
          </a:prstGeom>
          <a:noFill/>
          <a:ln/>
        </p:spPr>
        <p:txBody>
          <a:bodyPr wrap="square" lIns="0" tIns="0" rIns="0" bIns="0" rtlCol="0" anchor="ctr"/>
          <a:lstStyle/>
          <a:p>
            <a:pPr algn="ctr" indent="0" marL="0">
              <a:buNone/>
            </a:pPr>
            <a:r>
              <a:rPr lang="en-US" sz="1350" b="1" dirty="0">
                <a:solidFill>
                  <a:srgbClr val="232428"/>
                </a:solidFill>
                <a:latin typeface="Calibri" pitchFamily="34" charset="0"/>
                <a:ea typeface="Calibri" pitchFamily="34" charset="-122"/>
                <a:cs typeface="Calibri" pitchFamily="34" charset="-120"/>
              </a:rPr>
              <a:t>OfflineAudioContext</a:t>
            </a:r>
            <a:endParaRPr lang="en-US" sz="1350" dirty="0"/>
          </a:p>
        </p:txBody>
      </p:sp>
      <p:sp>
        <p:nvSpPr>
          <p:cNvPr id="14" name="Text 10"/>
          <p:cNvSpPr/>
          <p:nvPr/>
        </p:nvSpPr>
        <p:spPr>
          <a:xfrm>
            <a:off x="3596564" y="3410712"/>
            <a:ext cx="2179244" cy="640080"/>
          </a:xfrm>
          <a:prstGeom prst="rect">
            <a:avLst/>
          </a:prstGeom>
          <a:noFill/>
          <a:ln/>
        </p:spPr>
        <p:txBody>
          <a:bodyPr wrap="square" lIns="0" tIns="0" rIns="0" bIns="0" rtlCol="0" anchor="ctr"/>
          <a:lstStyle/>
          <a:p>
            <a:pPr algn="ctr" indent="0" marL="0">
              <a:lnSpc>
                <a:spcPct val="115000"/>
              </a:lnSpc>
              <a:buNone/>
            </a:pPr>
            <a:r>
              <a:rPr lang="en-US" sz="1100" dirty="0">
                <a:solidFill>
                  <a:srgbClr val="787A76"/>
                </a:solidFill>
                <a:latin typeface="Calibri" pitchFamily="34" charset="0"/>
                <a:ea typeface="Calibri" pitchFamily="34" charset="-122"/>
                <a:cs typeface="Calibri" pitchFamily="34" charset="-120"/>
              </a:rPr>
              <a:t>Fast, non-blocking export</a:t>
            </a:r>
            <a:endParaRPr lang="en-US" sz="1100" dirty="0"/>
          </a:p>
        </p:txBody>
      </p:sp>
      <p:sp>
        <p:nvSpPr>
          <p:cNvPr id="15" name="Shape 11"/>
          <p:cNvSpPr/>
          <p:nvPr/>
        </p:nvSpPr>
        <p:spPr>
          <a:xfrm>
            <a:off x="6278728" y="1828800"/>
            <a:ext cx="2453564" cy="2286000"/>
          </a:xfrm>
          <a:prstGeom prst="roundRect">
            <a:avLst>
              <a:gd name="adj" fmla="val 3600"/>
            </a:avLst>
          </a:prstGeom>
          <a:solidFill>
            <a:srgbClr val="FFFFFF"/>
          </a:solidFill>
          <a:ln/>
          <a:effectLst>
            <a:outerShdw sx="100000" sy="100000" kx="0" ky="0" algn="bl" rotWithShape="0" blurRad="127000" dist="38100" dir="5400000">
              <a:srgbClr val="000000">
                <a:alpha val="16000"/>
              </a:srgbClr>
            </a:outerShdw>
          </a:effectLst>
        </p:spPr>
      </p:sp>
      <p:sp>
        <p:nvSpPr>
          <p:cNvPr id="16" name="Shape 12"/>
          <p:cNvSpPr/>
          <p:nvPr/>
        </p:nvSpPr>
        <p:spPr>
          <a:xfrm>
            <a:off x="7185470" y="2103120"/>
            <a:ext cx="640080" cy="64008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7" name="Image 2" descr="preencoded.png"/>
          <p:cNvPicPr>
            <a:picLocks noChangeAspect="1"/>
          </p:cNvPicPr>
          <p:nvPr/>
        </p:nvPicPr>
        <p:blipFill>
          <a:blip r:embed="rId3"/>
          <a:stretch>
            <a:fillRect/>
          </a:stretch>
        </p:blipFill>
        <p:spPr>
          <a:xfrm>
            <a:off x="7339089" y="2256739"/>
            <a:ext cx="332842" cy="332842"/>
          </a:xfrm>
          <a:prstGeom prst="rect">
            <a:avLst/>
          </a:prstGeom>
        </p:spPr>
      </p:pic>
      <p:sp>
        <p:nvSpPr>
          <p:cNvPr id="18" name="Text 13"/>
          <p:cNvSpPr/>
          <p:nvPr/>
        </p:nvSpPr>
        <p:spPr>
          <a:xfrm>
            <a:off x="6415888" y="3017520"/>
            <a:ext cx="2179244" cy="365760"/>
          </a:xfrm>
          <a:prstGeom prst="rect">
            <a:avLst/>
          </a:prstGeom>
          <a:noFill/>
          <a:ln/>
        </p:spPr>
        <p:txBody>
          <a:bodyPr wrap="square" lIns="0" tIns="0" rIns="0" bIns="0" rtlCol="0" anchor="ctr"/>
          <a:lstStyle/>
          <a:p>
            <a:pPr algn="ctr" indent="0" marL="0">
              <a:buNone/>
            </a:pPr>
            <a:r>
              <a:rPr lang="en-US" sz="1350" b="1" dirty="0">
                <a:solidFill>
                  <a:srgbClr val="232428"/>
                </a:solidFill>
                <a:latin typeface="Calibri" pitchFamily="34" charset="0"/>
                <a:ea typeface="Calibri" pitchFamily="34" charset="-122"/>
                <a:cs typeface="Calibri" pitchFamily="34" charset="-120"/>
              </a:rPr>
              <a:t>Web MIDI</a:t>
            </a:r>
            <a:endParaRPr lang="en-US" sz="1350" dirty="0"/>
          </a:p>
        </p:txBody>
      </p:sp>
      <p:sp>
        <p:nvSpPr>
          <p:cNvPr id="19" name="Text 14"/>
          <p:cNvSpPr/>
          <p:nvPr/>
        </p:nvSpPr>
        <p:spPr>
          <a:xfrm>
            <a:off x="6415888" y="3410712"/>
            <a:ext cx="2179244" cy="640080"/>
          </a:xfrm>
          <a:prstGeom prst="rect">
            <a:avLst/>
          </a:prstGeom>
          <a:noFill/>
          <a:ln/>
        </p:spPr>
        <p:txBody>
          <a:bodyPr wrap="square" lIns="0" tIns="0" rIns="0" bIns="0" rtlCol="0" anchor="ctr"/>
          <a:lstStyle/>
          <a:p>
            <a:pPr algn="ctr" indent="0" marL="0">
              <a:lnSpc>
                <a:spcPct val="115000"/>
              </a:lnSpc>
              <a:buNone/>
            </a:pPr>
            <a:r>
              <a:rPr lang="en-US" sz="1100" dirty="0">
                <a:solidFill>
                  <a:srgbClr val="787A76"/>
                </a:solidFill>
                <a:latin typeface="Calibri" pitchFamily="34" charset="0"/>
                <a:ea typeface="Calibri" pitchFamily="34" charset="-122"/>
                <a:cs typeface="Calibri" pitchFamily="34" charset="-120"/>
              </a:rPr>
              <a:t>Hardware keyboards, zero drivers</a:t>
            </a:r>
            <a:endParaRPr lang="en-US" sz="1100" dirty="0"/>
          </a:p>
        </p:txBody>
      </p:sp>
      <p:sp>
        <p:nvSpPr>
          <p:cNvPr id="20" name="Shape 15"/>
          <p:cNvSpPr/>
          <p:nvPr/>
        </p:nvSpPr>
        <p:spPr>
          <a:xfrm>
            <a:off x="9098051" y="1828800"/>
            <a:ext cx="2453564" cy="2286000"/>
          </a:xfrm>
          <a:prstGeom prst="roundRect">
            <a:avLst>
              <a:gd name="adj" fmla="val 3600"/>
            </a:avLst>
          </a:prstGeom>
          <a:solidFill>
            <a:srgbClr val="FFFFFF"/>
          </a:solidFill>
          <a:ln/>
          <a:effectLst>
            <a:outerShdw sx="100000" sy="100000" kx="0" ky="0" algn="bl" rotWithShape="0" blurRad="127000" dist="38100" dir="5400000">
              <a:srgbClr val="000000">
                <a:alpha val="16000"/>
              </a:srgbClr>
            </a:outerShdw>
          </a:effectLst>
        </p:spPr>
      </p:sp>
      <p:sp>
        <p:nvSpPr>
          <p:cNvPr id="21" name="Shape 16"/>
          <p:cNvSpPr/>
          <p:nvPr/>
        </p:nvSpPr>
        <p:spPr>
          <a:xfrm>
            <a:off x="10004793" y="2103120"/>
            <a:ext cx="640080" cy="64008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22" name="Image 3" descr="preencoded.png"/>
          <p:cNvPicPr>
            <a:picLocks noChangeAspect="1"/>
          </p:cNvPicPr>
          <p:nvPr/>
        </p:nvPicPr>
        <p:blipFill>
          <a:blip r:embed="rId4"/>
          <a:stretch>
            <a:fillRect/>
          </a:stretch>
        </p:blipFill>
        <p:spPr>
          <a:xfrm>
            <a:off x="10158413" y="2256739"/>
            <a:ext cx="332842" cy="332842"/>
          </a:xfrm>
          <a:prstGeom prst="rect">
            <a:avLst/>
          </a:prstGeom>
        </p:spPr>
      </p:pic>
      <p:sp>
        <p:nvSpPr>
          <p:cNvPr id="23" name="Text 17"/>
          <p:cNvSpPr/>
          <p:nvPr/>
        </p:nvSpPr>
        <p:spPr>
          <a:xfrm>
            <a:off x="9235211" y="3017520"/>
            <a:ext cx="2179244" cy="365760"/>
          </a:xfrm>
          <a:prstGeom prst="rect">
            <a:avLst/>
          </a:prstGeom>
          <a:noFill/>
          <a:ln/>
        </p:spPr>
        <p:txBody>
          <a:bodyPr wrap="square" lIns="0" tIns="0" rIns="0" bIns="0" rtlCol="0" anchor="ctr"/>
          <a:lstStyle/>
          <a:p>
            <a:pPr algn="ctr" indent="0" marL="0">
              <a:buNone/>
            </a:pPr>
            <a:r>
              <a:rPr lang="en-US" sz="1350" b="1" dirty="0">
                <a:solidFill>
                  <a:srgbClr val="232428"/>
                </a:solidFill>
                <a:latin typeface="Calibri" pitchFamily="34" charset="0"/>
                <a:ea typeface="Calibri" pitchFamily="34" charset="-122"/>
                <a:cs typeface="Calibri" pitchFamily="34" charset="-120"/>
              </a:rPr>
              <a:t>JSON + WAV</a:t>
            </a:r>
            <a:endParaRPr lang="en-US" sz="1350" dirty="0"/>
          </a:p>
        </p:txBody>
      </p:sp>
      <p:sp>
        <p:nvSpPr>
          <p:cNvPr id="24" name="Text 18"/>
          <p:cNvSpPr/>
          <p:nvPr/>
        </p:nvSpPr>
        <p:spPr>
          <a:xfrm>
            <a:off x="9235211" y="3410712"/>
            <a:ext cx="2179244" cy="640080"/>
          </a:xfrm>
          <a:prstGeom prst="rect">
            <a:avLst/>
          </a:prstGeom>
          <a:noFill/>
          <a:ln/>
        </p:spPr>
        <p:txBody>
          <a:bodyPr wrap="square" lIns="0" tIns="0" rIns="0" bIns="0" rtlCol="0" anchor="ctr"/>
          <a:lstStyle/>
          <a:p>
            <a:pPr algn="ctr" indent="0" marL="0">
              <a:lnSpc>
                <a:spcPct val="115000"/>
              </a:lnSpc>
              <a:buNone/>
            </a:pPr>
            <a:r>
              <a:rPr lang="en-US" sz="1100" dirty="0">
                <a:solidFill>
                  <a:srgbClr val="787A76"/>
                </a:solidFill>
                <a:latin typeface="Calibri" pitchFamily="34" charset="0"/>
                <a:ea typeface="Calibri" pitchFamily="34" charset="-122"/>
                <a:cs typeface="Calibri" pitchFamily="34" charset="-120"/>
              </a:rPr>
              <a:t>Project files, no proprietary format</a:t>
            </a:r>
            <a:endParaRPr lang="en-US" sz="1100" dirty="0"/>
          </a:p>
        </p:txBody>
      </p:sp>
      <p:sp>
        <p:nvSpPr>
          <p:cNvPr id="25" name="Shape 19"/>
          <p:cNvSpPr/>
          <p:nvPr/>
        </p:nvSpPr>
        <p:spPr>
          <a:xfrm>
            <a:off x="640080" y="4343400"/>
            <a:ext cx="10911535" cy="1234440"/>
          </a:xfrm>
          <a:prstGeom prst="roundRect">
            <a:avLst>
              <a:gd name="adj" fmla="val 6667"/>
            </a:avLst>
          </a:prstGeom>
          <a:solidFill>
            <a:srgbClr val="1B1C1F"/>
          </a:solidFill>
          <a:ln/>
          <a:effectLst>
            <a:outerShdw sx="100000" sy="100000" kx="0" ky="0" algn="bl" rotWithShape="0" blurRad="127000" dist="38100" dir="5400000">
              <a:srgbClr val="000000">
                <a:alpha val="16000"/>
              </a:srgbClr>
            </a:outerShdw>
          </a:effectLst>
        </p:spPr>
      </p:sp>
      <p:sp>
        <p:nvSpPr>
          <p:cNvPr id="26" name="Text 20"/>
          <p:cNvSpPr/>
          <p:nvPr/>
        </p:nvSpPr>
        <p:spPr>
          <a:xfrm>
            <a:off x="914400" y="4526280"/>
            <a:ext cx="10362895"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Packaging: a Python launcher + a .bat installer → a Desktop icon that opens a real browser window.</a:t>
            </a:r>
            <a:endParaRPr lang="en-US" sz="1400" dirty="0"/>
          </a:p>
        </p:txBody>
      </p:sp>
      <p:sp>
        <p:nvSpPr>
          <p:cNvPr id="27" name="Text 21"/>
          <p:cNvSpPr/>
          <p:nvPr/>
        </p:nvSpPr>
        <p:spPr>
          <a:xfrm>
            <a:off x="914400" y="4937760"/>
            <a:ext cx="10362895" cy="548640"/>
          </a:xfrm>
          <a:prstGeom prst="rect">
            <a:avLst/>
          </a:prstGeom>
          <a:noFill/>
          <a:ln/>
        </p:spPr>
        <p:txBody>
          <a:bodyPr wrap="square" lIns="0" tIns="0" rIns="0" bIns="0" rtlCol="0" anchor="ctr"/>
          <a:lstStyle/>
          <a:p>
            <a:pPr indent="0" marL="0">
              <a:lnSpc>
                <a:spcPct val="120000"/>
              </a:lnSpc>
              <a:buNone/>
            </a:pPr>
            <a:r>
              <a:rPr lang="en-US" sz="1250" dirty="0">
                <a:solidFill>
                  <a:srgbClr val="9A9BA0"/>
                </a:solidFill>
                <a:latin typeface="Calibri" pitchFamily="34" charset="0"/>
                <a:ea typeface="Calibri" pitchFamily="34" charset="-122"/>
                <a:cs typeface="Calibri" pitchFamily="34" charset="-120"/>
              </a:rPr>
              <a:t>No Electron, no bundled Chromium — the machine already has a real browser. Single HTML file per app: open it in ten years, it still runs.</a:t>
            </a:r>
            <a:endParaRPr lang="en-US" sz="1250" dirty="0"/>
          </a:p>
        </p:txBody>
      </p:sp>
      <p:sp>
        <p:nvSpPr>
          <p:cNvPr id="28" name="Text 22"/>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B9BBB6"/>
                </a:solidFill>
                <a:latin typeface="Calibri" pitchFamily="34" charset="0"/>
                <a:ea typeface="Calibri" pitchFamily="34" charset="-122"/>
                <a:cs typeface="Calibri" pitchFamily="34" charset="-120"/>
              </a:rPr>
              <a:t>PLAYTAPE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C1F"/>
        </a:solidFill>
      </p:bgPr>
    </p:bg>
    <p:spTree>
      <p:nvGrpSpPr>
        <p:cNvPr id="1" name=""/>
        <p:cNvGrpSpPr/>
        <p:nvPr/>
      </p:nvGrpSpPr>
      <p:grpSpPr>
        <a:xfrm>
          <a:off x="0" y="0"/>
          <a:ext cx="0" cy="0"/>
          <a:chOff x="0" y="0"/>
          <a:chExt cx="0" cy="0"/>
        </a:xfrm>
      </p:grpSpPr>
      <p:sp>
        <p:nvSpPr>
          <p:cNvPr id="2" name="Shape 0"/>
          <p:cNvSpPr/>
          <p:nvPr/>
        </p:nvSpPr>
        <p:spPr>
          <a:xfrm>
            <a:off x="685800" y="539496"/>
            <a:ext cx="128016" cy="128016"/>
          </a:xfrm>
          <a:prstGeom prst="ellipse">
            <a:avLst/>
          </a:prstGeom>
          <a:solidFill>
            <a:srgbClr val="FFB020"/>
          </a:solidFill>
          <a:ln/>
        </p:spPr>
      </p:sp>
      <p:sp>
        <p:nvSpPr>
          <p:cNvPr id="3" name="Text 1"/>
          <p:cNvSpPr/>
          <p:nvPr/>
        </p:nvSpPr>
        <p:spPr>
          <a:xfrm>
            <a:off x="923544" y="502920"/>
            <a:ext cx="5486400" cy="219456"/>
          </a:xfrm>
          <a:prstGeom prst="rect">
            <a:avLst/>
          </a:prstGeom>
          <a:noFill/>
          <a:ln/>
        </p:spPr>
        <p:txBody>
          <a:bodyPr wrap="square" lIns="0" tIns="0" rIns="0" bIns="0" rtlCol="0" anchor="ctr"/>
          <a:lstStyle/>
          <a:p>
            <a:pPr indent="0" marL="0">
              <a:buNone/>
            </a:pPr>
            <a:r>
              <a:rPr lang="en-US" sz="1100" b="1" spc="300" kern="0" dirty="0">
                <a:solidFill>
                  <a:srgbClr val="9A9BA0"/>
                </a:solidFill>
                <a:latin typeface="Calibri" pitchFamily="34" charset="0"/>
                <a:ea typeface="Calibri" pitchFamily="34" charset="-122"/>
                <a:cs typeface="Calibri" pitchFamily="34" charset="-120"/>
              </a:rPr>
              <a:t>OPEN SOURCE</a:t>
            </a:r>
            <a:endParaRPr lang="en-US" sz="1100" dirty="0"/>
          </a:p>
        </p:txBody>
      </p:sp>
      <p:sp>
        <p:nvSpPr>
          <p:cNvPr id="4" name="Text 2"/>
          <p:cNvSpPr/>
          <p:nvPr/>
        </p:nvSpPr>
        <p:spPr>
          <a:xfrm>
            <a:off x="640080" y="1051560"/>
            <a:ext cx="10911535" cy="1645920"/>
          </a:xfrm>
          <a:prstGeom prst="rect">
            <a:avLst/>
          </a:prstGeom>
          <a:noFill/>
          <a:ln/>
        </p:spPr>
        <p:txBody>
          <a:bodyPr wrap="square" lIns="0" tIns="0" rIns="0" bIns="0" rtlCol="0" anchor="ctr"/>
          <a:lstStyle/>
          <a:p>
            <a:pPr indent="0" marL="0">
              <a:lnSpc>
                <a:spcPct val="105000"/>
              </a:lnSpc>
              <a:buNone/>
            </a:pPr>
            <a:r>
              <a:rPr lang="en-US" sz="3200" b="1" dirty="0">
                <a:solidFill>
                  <a:srgbClr val="FFFFFF"/>
                </a:solidFill>
                <a:latin typeface="Calibri" pitchFamily="34" charset="0"/>
                <a:ea typeface="Calibri" pitchFamily="34" charset="-122"/>
                <a:cs typeface="Calibri" pitchFamily="34" charset="-120"/>
              </a:rPr>
              <a:t>MIT licensed.</a:t>
            </a:r>
            <a:endParaRPr lang="en-US" sz="3200" dirty="0"/>
          </a:p>
          <a:p>
            <a:pPr indent="0" marL="0">
              <a:lnSpc>
                <a:spcPct val="105000"/>
              </a:lnSpc>
              <a:buNone/>
            </a:pPr>
            <a:r>
              <a:rPr lang="en-US" sz="3200" b="1" dirty="0">
                <a:solidFill>
                  <a:srgbClr val="FFFFFF"/>
                </a:solidFill>
                <a:latin typeface="Calibri" pitchFamily="34" charset="0"/>
                <a:ea typeface="Calibri" pitchFamily="34" charset="-122"/>
                <a:cs typeface="Calibri" pitchFamily="34" charset="-120"/>
              </a:rPr>
              <a:t>Fork it, break it, teach with it.</a:t>
            </a:r>
            <a:endParaRPr lang="en-US" sz="3200" dirty="0"/>
          </a:p>
        </p:txBody>
      </p:sp>
      <p:sp>
        <p:nvSpPr>
          <p:cNvPr id="5" name="Shape 3"/>
          <p:cNvSpPr/>
          <p:nvPr/>
        </p:nvSpPr>
        <p:spPr>
          <a:xfrm>
            <a:off x="640080" y="2880360"/>
            <a:ext cx="502920" cy="502920"/>
          </a:xfrm>
          <a:prstGeom prst="ellipse">
            <a:avLst/>
          </a:prstGeom>
          <a:solidFill>
            <a:srgbClr val="FFFFFF"/>
          </a:solidFill>
          <a:ln/>
          <a:effectLst>
            <a:outerShdw sx="100000" sy="100000" kx="0" ky="0" algn="bl" rotWithShape="0" blurRad="127000" dist="38100" dir="5400000">
              <a:srgbClr val="000000">
                <a:alpha val="18000"/>
              </a:srgbClr>
            </a:outerShdw>
          </a:effectLst>
        </p:spPr>
      </p:sp>
      <p:pic>
        <p:nvPicPr>
          <p:cNvPr id="6" name="Image 0" descr="preencoded.png"/>
          <p:cNvPicPr>
            <a:picLocks noChangeAspect="1"/>
          </p:cNvPicPr>
          <p:nvPr/>
        </p:nvPicPr>
        <p:blipFill>
          <a:blip r:embed="rId1"/>
          <a:stretch>
            <a:fillRect/>
          </a:stretch>
        </p:blipFill>
        <p:spPr>
          <a:xfrm>
            <a:off x="760781" y="3001061"/>
            <a:ext cx="261518" cy="261518"/>
          </a:xfrm>
          <a:prstGeom prst="rect">
            <a:avLst/>
          </a:prstGeom>
        </p:spPr>
      </p:pic>
      <p:sp>
        <p:nvSpPr>
          <p:cNvPr id="7" name="Text 4"/>
          <p:cNvSpPr/>
          <p:nvPr/>
        </p:nvSpPr>
        <p:spPr>
          <a:xfrm>
            <a:off x="1325880" y="2880360"/>
            <a:ext cx="10180015" cy="502920"/>
          </a:xfrm>
          <a:prstGeom prst="rect">
            <a:avLst/>
          </a:prstGeom>
          <a:noFill/>
          <a:ln/>
        </p:spPr>
        <p:txBody>
          <a:bodyPr wrap="square" lIns="0" tIns="0" rIns="0" bIns="0" rtlCol="0" anchor="ctr"/>
          <a:lstStyle/>
          <a:p>
            <a:pPr indent="0" marL="0">
              <a:buNone/>
            </a:pPr>
            <a:r>
              <a:rPr lang="en-US" sz="1500" dirty="0">
                <a:solidFill>
                  <a:srgbClr val="E8E9E6"/>
                </a:solidFill>
                <a:latin typeface="Calibri" pitchFamily="34" charset="0"/>
                <a:ea typeface="Calibri" pitchFamily="34" charset="-122"/>
                <a:cs typeface="Calibri" pitchFamily="34" charset="-120"/>
              </a:rPr>
              <a:t>github.com/&lt;you&gt;/tape-daw</a:t>
            </a:r>
            <a:endParaRPr lang="en-US" sz="1500" dirty="0"/>
          </a:p>
        </p:txBody>
      </p:sp>
      <p:sp>
        <p:nvSpPr>
          <p:cNvPr id="8" name="Shape 5"/>
          <p:cNvSpPr/>
          <p:nvPr/>
        </p:nvSpPr>
        <p:spPr>
          <a:xfrm>
            <a:off x="640080" y="3657600"/>
            <a:ext cx="502920" cy="50292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9" name="Image 1" descr="preencoded.png"/>
          <p:cNvPicPr>
            <a:picLocks noChangeAspect="1"/>
          </p:cNvPicPr>
          <p:nvPr/>
        </p:nvPicPr>
        <p:blipFill>
          <a:blip r:embed="rId2"/>
          <a:stretch>
            <a:fillRect/>
          </a:stretch>
        </p:blipFill>
        <p:spPr>
          <a:xfrm>
            <a:off x="760781" y="3778301"/>
            <a:ext cx="261518" cy="261518"/>
          </a:xfrm>
          <a:prstGeom prst="rect">
            <a:avLst/>
          </a:prstGeom>
        </p:spPr>
      </p:pic>
      <p:sp>
        <p:nvSpPr>
          <p:cNvPr id="10" name="Text 6"/>
          <p:cNvSpPr/>
          <p:nvPr/>
        </p:nvSpPr>
        <p:spPr>
          <a:xfrm>
            <a:off x="1325880" y="3657600"/>
            <a:ext cx="10180015" cy="502920"/>
          </a:xfrm>
          <a:prstGeom prst="rect">
            <a:avLst/>
          </a:prstGeom>
          <a:noFill/>
          <a:ln/>
        </p:spPr>
        <p:txBody>
          <a:bodyPr wrap="square" lIns="0" tIns="0" rIns="0" bIns="0" rtlCol="0" anchor="ctr"/>
          <a:lstStyle/>
          <a:p>
            <a:pPr indent="0" marL="0">
              <a:buNone/>
            </a:pPr>
            <a:r>
              <a:rPr lang="en-US" sz="1500" dirty="0">
                <a:solidFill>
                  <a:srgbClr val="E8E9E6"/>
                </a:solidFill>
                <a:latin typeface="Calibri" pitchFamily="34" charset="0"/>
                <a:ea typeface="Calibri" pitchFamily="34" charset="-122"/>
                <a:cs typeface="Calibri" pitchFamily="34" charset="-120"/>
              </a:rPr>
              <a:t>Contributions welcome — see CONTRIBUTING.md</a:t>
            </a:r>
            <a:endParaRPr lang="en-US" sz="1500" dirty="0"/>
          </a:p>
        </p:txBody>
      </p:sp>
      <p:sp>
        <p:nvSpPr>
          <p:cNvPr id="11" name="Shape 7"/>
          <p:cNvSpPr/>
          <p:nvPr/>
        </p:nvSpPr>
        <p:spPr>
          <a:xfrm>
            <a:off x="640080" y="4434840"/>
            <a:ext cx="502920" cy="502920"/>
          </a:xfrm>
          <a:prstGeom prst="ellipse">
            <a:avLst/>
          </a:prstGeom>
          <a:solidFill>
            <a:srgbClr val="FF5C1F"/>
          </a:solidFill>
          <a:ln/>
          <a:effectLst>
            <a:outerShdw sx="100000" sy="100000" kx="0" ky="0" algn="bl" rotWithShape="0" blurRad="127000" dist="38100" dir="5400000">
              <a:srgbClr val="000000">
                <a:alpha val="18000"/>
              </a:srgbClr>
            </a:outerShdw>
          </a:effectLst>
        </p:spPr>
      </p:sp>
      <p:pic>
        <p:nvPicPr>
          <p:cNvPr id="12" name="Image 2" descr="preencoded.png"/>
          <p:cNvPicPr>
            <a:picLocks noChangeAspect="1"/>
          </p:cNvPicPr>
          <p:nvPr/>
        </p:nvPicPr>
        <p:blipFill>
          <a:blip r:embed="rId3"/>
          <a:stretch>
            <a:fillRect/>
          </a:stretch>
        </p:blipFill>
        <p:spPr>
          <a:xfrm>
            <a:off x="760781" y="4555541"/>
            <a:ext cx="261518" cy="261518"/>
          </a:xfrm>
          <a:prstGeom prst="rect">
            <a:avLst/>
          </a:prstGeom>
        </p:spPr>
      </p:pic>
      <p:sp>
        <p:nvSpPr>
          <p:cNvPr id="13" name="Text 8"/>
          <p:cNvSpPr/>
          <p:nvPr/>
        </p:nvSpPr>
        <p:spPr>
          <a:xfrm>
            <a:off x="1325880" y="4434840"/>
            <a:ext cx="10180015" cy="502920"/>
          </a:xfrm>
          <a:prstGeom prst="rect">
            <a:avLst/>
          </a:prstGeom>
          <a:noFill/>
          <a:ln/>
        </p:spPr>
        <p:txBody>
          <a:bodyPr wrap="square" lIns="0" tIns="0" rIns="0" bIns="0" rtlCol="0" anchor="ctr"/>
          <a:lstStyle/>
          <a:p>
            <a:pPr indent="0" marL="0">
              <a:buNone/>
            </a:pPr>
            <a:r>
              <a:rPr lang="en-US" sz="1500" dirty="0">
                <a:solidFill>
                  <a:srgbClr val="E8E9E6"/>
                </a:solidFill>
                <a:latin typeface="Calibri" pitchFamily="34" charset="0"/>
                <a:ea typeface="Calibri" pitchFamily="34" charset="-122"/>
                <a:cs typeface="Calibri" pitchFamily="34" charset="-120"/>
              </a:rPr>
              <a:t>Roadmap: translations, a Raspberry Pi bridge for real physical knobs &amp; LEDs</a:t>
            </a:r>
            <a:endParaRPr lang="en-US" sz="1500" dirty="0"/>
          </a:p>
        </p:txBody>
      </p:sp>
      <p:sp>
        <p:nvSpPr>
          <p:cNvPr id="14" name="Text 9"/>
          <p:cNvSpPr/>
          <p:nvPr/>
        </p:nvSpPr>
        <p:spPr>
          <a:xfrm>
            <a:off x="640080" y="5669280"/>
            <a:ext cx="10911535" cy="548640"/>
          </a:xfrm>
          <a:prstGeom prst="rect">
            <a:avLst/>
          </a:prstGeom>
          <a:noFill/>
          <a:ln/>
        </p:spPr>
        <p:txBody>
          <a:bodyPr wrap="square" lIns="0" tIns="0" rIns="0" bIns="0" rtlCol="0" anchor="ctr"/>
          <a:lstStyle/>
          <a:p>
            <a:pPr indent="0" marL="0">
              <a:buNone/>
            </a:pPr>
            <a:r>
              <a:rPr lang="en-US" sz="1800" b="1" dirty="0">
                <a:solidFill>
                  <a:srgbClr val="FF5C1F"/>
                </a:solidFill>
                <a:latin typeface="Calibri" pitchFamily="34" charset="0"/>
                <a:ea typeface="Calibri" pitchFamily="34" charset="-122"/>
                <a:cs typeface="Calibri" pitchFamily="34" charset="-120"/>
              </a:rPr>
              <a:t>Go press the big red button.</a:t>
            </a:r>
            <a:endParaRPr lang="en-US" sz="1800" dirty="0"/>
          </a:p>
        </p:txBody>
      </p:sp>
      <p:sp>
        <p:nvSpPr>
          <p:cNvPr id="15" name="Text 10"/>
          <p:cNvSpPr/>
          <p:nvPr/>
        </p:nvSpPr>
        <p:spPr>
          <a:xfrm>
            <a:off x="10088575" y="6473952"/>
            <a:ext cx="1828800" cy="274320"/>
          </a:xfrm>
          <a:prstGeom prst="rect">
            <a:avLst/>
          </a:prstGeom>
          <a:noFill/>
          <a:ln/>
        </p:spPr>
        <p:txBody>
          <a:bodyPr wrap="square" lIns="0" tIns="0" rIns="0" bIns="0" rtlCol="0" anchor="ctr"/>
          <a:lstStyle/>
          <a:p>
            <a:pPr algn="r" indent="0" marL="0">
              <a:buNone/>
            </a:pPr>
            <a:r>
              <a:rPr lang="en-US" sz="900" dirty="0">
                <a:solidFill>
                  <a:srgbClr val="55565B"/>
                </a:solidFill>
                <a:latin typeface="Calibri" pitchFamily="34" charset="0"/>
                <a:ea typeface="Calibri" pitchFamily="34" charset="-122"/>
                <a:cs typeface="Calibri" pitchFamily="34" charset="-120"/>
              </a:rPr>
              <a:t>PLAYTAPE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C1F"/>
        </a:solidFill>
      </p:bgPr>
    </p:bg>
    <p:spTree>
      <p:nvGrpSpPr>
        <p:cNvPr id="1" name=""/>
        <p:cNvGrpSpPr/>
        <p:nvPr/>
      </p:nvGrpSpPr>
      <p:grpSpPr>
        <a:xfrm>
          <a:off x="0" y="0"/>
          <a:ext cx="0" cy="0"/>
          <a:chOff x="0" y="0"/>
          <a:chExt cx="0" cy="0"/>
        </a:xfrm>
      </p:grpSpPr>
      <p:sp>
        <p:nvSpPr>
          <p:cNvPr id="2" name="Text 0"/>
          <p:cNvSpPr/>
          <p:nvPr/>
        </p:nvSpPr>
        <p:spPr>
          <a:xfrm>
            <a:off x="640080" y="2468880"/>
            <a:ext cx="10911535"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640080" y="3291840"/>
            <a:ext cx="10911535" cy="548640"/>
          </a:xfrm>
          <a:prstGeom prst="rect">
            <a:avLst/>
          </a:prstGeom>
          <a:noFill/>
          <a:ln/>
        </p:spPr>
        <p:txBody>
          <a:bodyPr wrap="square" lIns="0" tIns="0" rIns="0" bIns="0" rtlCol="0" anchor="ctr"/>
          <a:lstStyle/>
          <a:p>
            <a:pPr algn="ctr" indent="0" marL="0">
              <a:buNone/>
            </a:pPr>
            <a:r>
              <a:rPr lang="en-US" sz="1800" dirty="0">
                <a:solidFill>
                  <a:srgbClr val="FF5C1F"/>
                </a:solidFill>
                <a:latin typeface="Calibri" pitchFamily="34" charset="0"/>
                <a:ea typeface="Calibri" pitchFamily="34" charset="-122"/>
                <a:cs typeface="Calibri" pitchFamily="34" charset="-120"/>
              </a:rPr>
              <a:t>Questions?</a:t>
            </a:r>
            <a:endParaRPr lang="en-US" sz="1800" dirty="0"/>
          </a:p>
        </p:txBody>
      </p:sp>
      <p:sp>
        <p:nvSpPr>
          <p:cNvPr id="4" name="Shape 2"/>
          <p:cNvSpPr/>
          <p:nvPr/>
        </p:nvSpPr>
        <p:spPr>
          <a:xfrm rot="13500000">
            <a:off x="5483066" y="5595576"/>
            <a:ext cx="61722" cy="213970"/>
          </a:xfrm>
          <a:prstGeom prst="rect">
            <a:avLst/>
          </a:prstGeom>
          <a:solidFill>
            <a:srgbClr val="FF5C1F"/>
          </a:solidFill>
          <a:ln/>
        </p:spPr>
      </p:sp>
      <p:sp>
        <p:nvSpPr>
          <p:cNvPr id="5" name="Shape 3"/>
          <p:cNvSpPr/>
          <p:nvPr/>
        </p:nvSpPr>
        <p:spPr>
          <a:xfrm rot="14058621">
            <a:off x="5396588" y="5493766"/>
            <a:ext cx="61722" cy="213970"/>
          </a:xfrm>
          <a:prstGeom prst="rect">
            <a:avLst/>
          </a:prstGeom>
          <a:solidFill>
            <a:srgbClr val="FF5C1F"/>
          </a:solidFill>
          <a:ln/>
        </p:spPr>
      </p:sp>
      <p:sp>
        <p:nvSpPr>
          <p:cNvPr id="6" name="Shape 4"/>
          <p:cNvSpPr/>
          <p:nvPr/>
        </p:nvSpPr>
        <p:spPr>
          <a:xfrm rot="14617241">
            <a:off x="5327720" y="5379306"/>
            <a:ext cx="61722" cy="213970"/>
          </a:xfrm>
          <a:prstGeom prst="rect">
            <a:avLst/>
          </a:prstGeom>
          <a:solidFill>
            <a:srgbClr val="FF5C1F"/>
          </a:solidFill>
          <a:ln/>
        </p:spPr>
      </p:sp>
      <p:sp>
        <p:nvSpPr>
          <p:cNvPr id="7" name="Shape 5"/>
          <p:cNvSpPr/>
          <p:nvPr/>
        </p:nvSpPr>
        <p:spPr>
          <a:xfrm rot="15175862">
            <a:off x="5278276" y="5255213"/>
            <a:ext cx="61722" cy="213970"/>
          </a:xfrm>
          <a:prstGeom prst="rect">
            <a:avLst/>
          </a:prstGeom>
          <a:solidFill>
            <a:srgbClr val="FF5C1F"/>
          </a:solidFill>
          <a:ln/>
        </p:spPr>
      </p:sp>
      <p:sp>
        <p:nvSpPr>
          <p:cNvPr id="8" name="Shape 6"/>
          <p:cNvSpPr/>
          <p:nvPr/>
        </p:nvSpPr>
        <p:spPr>
          <a:xfrm rot="15734483">
            <a:off x="5249560" y="5124755"/>
            <a:ext cx="61722" cy="213970"/>
          </a:xfrm>
          <a:prstGeom prst="rect">
            <a:avLst/>
          </a:prstGeom>
          <a:solidFill>
            <a:srgbClr val="FF5C1F"/>
          </a:solidFill>
          <a:ln/>
        </p:spPr>
      </p:sp>
      <p:sp>
        <p:nvSpPr>
          <p:cNvPr id="9" name="Shape 7"/>
          <p:cNvSpPr/>
          <p:nvPr/>
        </p:nvSpPr>
        <p:spPr>
          <a:xfrm rot="16293103">
            <a:off x="5242328" y="4991370"/>
            <a:ext cx="61722" cy="213970"/>
          </a:xfrm>
          <a:prstGeom prst="rect">
            <a:avLst/>
          </a:prstGeom>
          <a:solidFill>
            <a:srgbClr val="FF5C1F"/>
          </a:solidFill>
          <a:ln/>
        </p:spPr>
      </p:sp>
      <p:sp>
        <p:nvSpPr>
          <p:cNvPr id="10" name="Shape 8"/>
          <p:cNvSpPr/>
          <p:nvPr/>
        </p:nvSpPr>
        <p:spPr>
          <a:xfrm rot="16851724">
            <a:off x="5256771" y="4858572"/>
            <a:ext cx="61722" cy="213970"/>
          </a:xfrm>
          <a:prstGeom prst="rect">
            <a:avLst/>
          </a:prstGeom>
          <a:solidFill>
            <a:srgbClr val="FF5C1F"/>
          </a:solidFill>
          <a:ln/>
        </p:spPr>
      </p:sp>
      <p:sp>
        <p:nvSpPr>
          <p:cNvPr id="11" name="Shape 9"/>
          <p:cNvSpPr/>
          <p:nvPr/>
        </p:nvSpPr>
        <p:spPr>
          <a:xfrm rot="17410345">
            <a:off x="5292508" y="4729860"/>
            <a:ext cx="61722" cy="213970"/>
          </a:xfrm>
          <a:prstGeom prst="rect">
            <a:avLst/>
          </a:prstGeom>
          <a:solidFill>
            <a:srgbClr val="FF5C1F"/>
          </a:solidFill>
          <a:ln/>
        </p:spPr>
      </p:sp>
      <p:sp>
        <p:nvSpPr>
          <p:cNvPr id="12" name="Shape 10"/>
          <p:cNvSpPr/>
          <p:nvPr/>
        </p:nvSpPr>
        <p:spPr>
          <a:xfrm rot="17968966">
            <a:off x="5348597" y="4608626"/>
            <a:ext cx="61722" cy="213970"/>
          </a:xfrm>
          <a:prstGeom prst="rect">
            <a:avLst/>
          </a:prstGeom>
          <a:solidFill>
            <a:srgbClr val="FF5C1F"/>
          </a:solidFill>
          <a:ln/>
        </p:spPr>
      </p:sp>
      <p:sp>
        <p:nvSpPr>
          <p:cNvPr id="13" name="Shape 11"/>
          <p:cNvSpPr/>
          <p:nvPr/>
        </p:nvSpPr>
        <p:spPr>
          <a:xfrm rot="18527586">
            <a:off x="5423561" y="4498063"/>
            <a:ext cx="61722" cy="213970"/>
          </a:xfrm>
          <a:prstGeom prst="rect">
            <a:avLst/>
          </a:prstGeom>
          <a:solidFill>
            <a:srgbClr val="FF5C1F"/>
          </a:solidFill>
          <a:ln/>
        </p:spPr>
      </p:sp>
      <p:sp>
        <p:nvSpPr>
          <p:cNvPr id="14" name="Shape 12"/>
          <p:cNvSpPr/>
          <p:nvPr/>
        </p:nvSpPr>
        <p:spPr>
          <a:xfrm rot="19086207">
            <a:off x="5515424" y="4401083"/>
            <a:ext cx="61722" cy="213970"/>
          </a:xfrm>
          <a:prstGeom prst="rect">
            <a:avLst/>
          </a:prstGeom>
          <a:solidFill>
            <a:srgbClr val="B9BBB6"/>
          </a:solidFill>
          <a:ln/>
        </p:spPr>
      </p:sp>
      <p:sp>
        <p:nvSpPr>
          <p:cNvPr id="15" name="Shape 13"/>
          <p:cNvSpPr/>
          <p:nvPr/>
        </p:nvSpPr>
        <p:spPr>
          <a:xfrm rot="19644828">
            <a:off x="5621767" y="4320244"/>
            <a:ext cx="61722" cy="213970"/>
          </a:xfrm>
          <a:prstGeom prst="rect">
            <a:avLst/>
          </a:prstGeom>
          <a:solidFill>
            <a:srgbClr val="B9BBB6"/>
          </a:solidFill>
          <a:ln/>
        </p:spPr>
      </p:sp>
      <p:sp>
        <p:nvSpPr>
          <p:cNvPr id="16" name="Shape 14"/>
          <p:cNvSpPr/>
          <p:nvPr/>
        </p:nvSpPr>
        <p:spPr>
          <a:xfrm rot="20203448">
            <a:off x="5739787" y="4257673"/>
            <a:ext cx="61722" cy="213970"/>
          </a:xfrm>
          <a:prstGeom prst="rect">
            <a:avLst/>
          </a:prstGeom>
          <a:solidFill>
            <a:srgbClr val="B9BBB6"/>
          </a:solidFill>
          <a:ln/>
        </p:spPr>
      </p:sp>
      <p:sp>
        <p:nvSpPr>
          <p:cNvPr id="17" name="Shape 15"/>
          <p:cNvSpPr/>
          <p:nvPr/>
        </p:nvSpPr>
        <p:spPr>
          <a:xfrm rot="20762069">
            <a:off x="5866375" y="4215021"/>
            <a:ext cx="61722" cy="213970"/>
          </a:xfrm>
          <a:prstGeom prst="rect">
            <a:avLst/>
          </a:prstGeom>
          <a:solidFill>
            <a:srgbClr val="B9BBB6"/>
          </a:solidFill>
          <a:ln/>
        </p:spPr>
      </p:sp>
      <p:sp>
        <p:nvSpPr>
          <p:cNvPr id="18" name="Shape 16"/>
          <p:cNvSpPr/>
          <p:nvPr/>
        </p:nvSpPr>
        <p:spPr>
          <a:xfrm rot="21320690">
            <a:off x="5998196" y="4193410"/>
            <a:ext cx="61722" cy="213970"/>
          </a:xfrm>
          <a:prstGeom prst="rect">
            <a:avLst/>
          </a:prstGeom>
          <a:solidFill>
            <a:srgbClr val="B9BBB6"/>
          </a:solidFill>
          <a:ln/>
        </p:spPr>
      </p:sp>
      <p:sp>
        <p:nvSpPr>
          <p:cNvPr id="19" name="Shape 17"/>
          <p:cNvSpPr/>
          <p:nvPr/>
        </p:nvSpPr>
        <p:spPr>
          <a:xfrm rot="279310">
            <a:off x="6131777" y="4193410"/>
            <a:ext cx="61722" cy="213970"/>
          </a:xfrm>
          <a:prstGeom prst="rect">
            <a:avLst/>
          </a:prstGeom>
          <a:solidFill>
            <a:srgbClr val="B9BBB6"/>
          </a:solidFill>
          <a:ln/>
        </p:spPr>
      </p:sp>
      <p:sp>
        <p:nvSpPr>
          <p:cNvPr id="20" name="Shape 18"/>
          <p:cNvSpPr/>
          <p:nvPr/>
        </p:nvSpPr>
        <p:spPr>
          <a:xfrm rot="837931">
            <a:off x="6263598" y="4215021"/>
            <a:ext cx="61722" cy="213970"/>
          </a:xfrm>
          <a:prstGeom prst="rect">
            <a:avLst/>
          </a:prstGeom>
          <a:solidFill>
            <a:srgbClr val="B9BBB6"/>
          </a:solidFill>
          <a:ln/>
        </p:spPr>
      </p:sp>
      <p:sp>
        <p:nvSpPr>
          <p:cNvPr id="21" name="Shape 19"/>
          <p:cNvSpPr/>
          <p:nvPr/>
        </p:nvSpPr>
        <p:spPr>
          <a:xfrm rot="1396552">
            <a:off x="6390186" y="4257673"/>
            <a:ext cx="61722" cy="213970"/>
          </a:xfrm>
          <a:prstGeom prst="rect">
            <a:avLst/>
          </a:prstGeom>
          <a:solidFill>
            <a:srgbClr val="B9BBB6"/>
          </a:solidFill>
          <a:ln/>
        </p:spPr>
      </p:sp>
      <p:sp>
        <p:nvSpPr>
          <p:cNvPr id="22" name="Shape 20"/>
          <p:cNvSpPr/>
          <p:nvPr/>
        </p:nvSpPr>
        <p:spPr>
          <a:xfrm rot="1955172">
            <a:off x="6508206" y="4320244"/>
            <a:ext cx="61722" cy="213970"/>
          </a:xfrm>
          <a:prstGeom prst="rect">
            <a:avLst/>
          </a:prstGeom>
          <a:solidFill>
            <a:srgbClr val="B9BBB6"/>
          </a:solidFill>
          <a:ln/>
        </p:spPr>
      </p:sp>
      <p:sp>
        <p:nvSpPr>
          <p:cNvPr id="23" name="Shape 21"/>
          <p:cNvSpPr/>
          <p:nvPr/>
        </p:nvSpPr>
        <p:spPr>
          <a:xfrm rot="2513793">
            <a:off x="6614549" y="4401083"/>
            <a:ext cx="61722" cy="213970"/>
          </a:xfrm>
          <a:prstGeom prst="rect">
            <a:avLst/>
          </a:prstGeom>
          <a:solidFill>
            <a:srgbClr val="B9BBB6"/>
          </a:solidFill>
          <a:ln/>
        </p:spPr>
      </p:sp>
      <p:sp>
        <p:nvSpPr>
          <p:cNvPr id="24" name="Shape 22"/>
          <p:cNvSpPr/>
          <p:nvPr/>
        </p:nvSpPr>
        <p:spPr>
          <a:xfrm rot="3072414">
            <a:off x="6706413" y="4498063"/>
            <a:ext cx="61722" cy="213970"/>
          </a:xfrm>
          <a:prstGeom prst="rect">
            <a:avLst/>
          </a:prstGeom>
          <a:solidFill>
            <a:srgbClr val="B9BBB6"/>
          </a:solidFill>
          <a:ln/>
        </p:spPr>
      </p:sp>
      <p:sp>
        <p:nvSpPr>
          <p:cNvPr id="25" name="Shape 23"/>
          <p:cNvSpPr/>
          <p:nvPr/>
        </p:nvSpPr>
        <p:spPr>
          <a:xfrm rot="3631034">
            <a:off x="6781376" y="4608626"/>
            <a:ext cx="61722" cy="213970"/>
          </a:xfrm>
          <a:prstGeom prst="rect">
            <a:avLst/>
          </a:prstGeom>
          <a:solidFill>
            <a:srgbClr val="B9BBB6"/>
          </a:solidFill>
          <a:ln/>
        </p:spPr>
      </p:sp>
      <p:sp>
        <p:nvSpPr>
          <p:cNvPr id="26" name="Shape 24"/>
          <p:cNvSpPr/>
          <p:nvPr/>
        </p:nvSpPr>
        <p:spPr>
          <a:xfrm rot="4189655">
            <a:off x="6837466" y="4729860"/>
            <a:ext cx="61722" cy="213970"/>
          </a:xfrm>
          <a:prstGeom prst="rect">
            <a:avLst/>
          </a:prstGeom>
          <a:solidFill>
            <a:srgbClr val="B9BBB6"/>
          </a:solidFill>
          <a:ln/>
        </p:spPr>
      </p:sp>
      <p:sp>
        <p:nvSpPr>
          <p:cNvPr id="27" name="Shape 25"/>
          <p:cNvSpPr/>
          <p:nvPr/>
        </p:nvSpPr>
        <p:spPr>
          <a:xfrm rot="4748276">
            <a:off x="6873202" y="4858572"/>
            <a:ext cx="61722" cy="213970"/>
          </a:xfrm>
          <a:prstGeom prst="rect">
            <a:avLst/>
          </a:prstGeom>
          <a:solidFill>
            <a:srgbClr val="B9BBB6"/>
          </a:solidFill>
          <a:ln/>
        </p:spPr>
      </p:sp>
      <p:sp>
        <p:nvSpPr>
          <p:cNvPr id="28" name="Shape 26"/>
          <p:cNvSpPr/>
          <p:nvPr/>
        </p:nvSpPr>
        <p:spPr>
          <a:xfrm rot="5306897">
            <a:off x="6887645" y="4991370"/>
            <a:ext cx="61722" cy="213970"/>
          </a:xfrm>
          <a:prstGeom prst="rect">
            <a:avLst/>
          </a:prstGeom>
          <a:solidFill>
            <a:srgbClr val="B9BBB6"/>
          </a:solidFill>
          <a:ln/>
        </p:spPr>
      </p:sp>
      <p:sp>
        <p:nvSpPr>
          <p:cNvPr id="29" name="Shape 27"/>
          <p:cNvSpPr/>
          <p:nvPr/>
        </p:nvSpPr>
        <p:spPr>
          <a:xfrm rot="5865517">
            <a:off x="6880413" y="5124755"/>
            <a:ext cx="61722" cy="213970"/>
          </a:xfrm>
          <a:prstGeom prst="rect">
            <a:avLst/>
          </a:prstGeom>
          <a:solidFill>
            <a:srgbClr val="B9BBB6"/>
          </a:solidFill>
          <a:ln/>
        </p:spPr>
      </p:sp>
      <p:sp>
        <p:nvSpPr>
          <p:cNvPr id="30" name="Shape 28"/>
          <p:cNvSpPr/>
          <p:nvPr/>
        </p:nvSpPr>
        <p:spPr>
          <a:xfrm rot="6424138">
            <a:off x="6851697" y="5255213"/>
            <a:ext cx="61722" cy="213970"/>
          </a:xfrm>
          <a:prstGeom prst="rect">
            <a:avLst/>
          </a:prstGeom>
          <a:solidFill>
            <a:srgbClr val="B9BBB6"/>
          </a:solidFill>
          <a:ln/>
        </p:spPr>
      </p:sp>
      <p:sp>
        <p:nvSpPr>
          <p:cNvPr id="31" name="Shape 29"/>
          <p:cNvSpPr/>
          <p:nvPr/>
        </p:nvSpPr>
        <p:spPr>
          <a:xfrm rot="6982759">
            <a:off x="6802254" y="5379306"/>
            <a:ext cx="61722" cy="213970"/>
          </a:xfrm>
          <a:prstGeom prst="rect">
            <a:avLst/>
          </a:prstGeom>
          <a:solidFill>
            <a:srgbClr val="B9BBB6"/>
          </a:solidFill>
          <a:ln/>
        </p:spPr>
      </p:sp>
      <p:sp>
        <p:nvSpPr>
          <p:cNvPr id="32" name="Shape 30"/>
          <p:cNvSpPr/>
          <p:nvPr/>
        </p:nvSpPr>
        <p:spPr>
          <a:xfrm rot="7541379">
            <a:off x="6733386" y="5493766"/>
            <a:ext cx="61722" cy="213970"/>
          </a:xfrm>
          <a:prstGeom prst="rect">
            <a:avLst/>
          </a:prstGeom>
          <a:solidFill>
            <a:srgbClr val="B9BBB6"/>
          </a:solidFill>
          <a:ln/>
        </p:spPr>
      </p:sp>
      <p:sp>
        <p:nvSpPr>
          <p:cNvPr id="33" name="Shape 31"/>
          <p:cNvSpPr/>
          <p:nvPr/>
        </p:nvSpPr>
        <p:spPr>
          <a:xfrm rot="8100000">
            <a:off x="6646907" y="5595576"/>
            <a:ext cx="61722" cy="213970"/>
          </a:xfrm>
          <a:prstGeom prst="rect">
            <a:avLst/>
          </a:prstGeom>
          <a:solidFill>
            <a:srgbClr val="B9BBB6"/>
          </a:solidFill>
          <a:ln/>
        </p:spPr>
      </p:sp>
      <p:sp>
        <p:nvSpPr>
          <p:cNvPr id="34" name="Shape 32"/>
          <p:cNvSpPr/>
          <p:nvPr/>
        </p:nvSpPr>
        <p:spPr>
          <a:xfrm>
            <a:off x="5503316" y="4528109"/>
            <a:ext cx="1185062" cy="1185062"/>
          </a:xfrm>
          <a:prstGeom prst="ellipse">
            <a:avLst/>
          </a:prstGeom>
          <a:solidFill>
            <a:srgbClr val="26272B"/>
          </a:solidFill>
          <a:ln w="12700">
            <a:solidFill>
              <a:srgbClr val="0D0E10"/>
            </a:solidFill>
            <a:prstDash val="solid"/>
          </a:ln>
          <a:effectLst>
            <a:outerShdw sx="100000" sy="100000" kx="0" ky="0" algn="bl" rotWithShape="0" blurRad="177800" dist="63500" dir="5400000">
              <a:srgbClr val="000000">
                <a:alpha val="40000"/>
              </a:srgbClr>
            </a:outerShdw>
          </a:effectLst>
        </p:spPr>
      </p:sp>
      <p:sp>
        <p:nvSpPr>
          <p:cNvPr id="35" name="Shape 33"/>
          <p:cNvSpPr/>
          <p:nvPr/>
        </p:nvSpPr>
        <p:spPr>
          <a:xfrm rot="18360000">
            <a:off x="5852420" y="4764946"/>
            <a:ext cx="74066" cy="411480"/>
          </a:xfrm>
          <a:prstGeom prst="rect">
            <a:avLst/>
          </a:prstGeom>
          <a:solidFill>
            <a:srgbClr val="FF5C1F"/>
          </a:solidFill>
          <a:ln/>
        </p:spPr>
      </p:sp>
      <p:sp>
        <p:nvSpPr>
          <p:cNvPr id="36" name="Text 34"/>
          <p:cNvSpPr/>
          <p:nvPr/>
        </p:nvSpPr>
        <p:spPr>
          <a:xfrm>
            <a:off x="640080" y="6080760"/>
            <a:ext cx="10911535" cy="320040"/>
          </a:xfrm>
          <a:prstGeom prst="rect">
            <a:avLst/>
          </a:prstGeom>
          <a:noFill/>
          <a:ln/>
        </p:spPr>
        <p:txBody>
          <a:bodyPr wrap="square" lIns="0" tIns="0" rIns="0" bIns="0" rtlCol="0" anchor="ctr"/>
          <a:lstStyle/>
          <a:p>
            <a:pPr algn="ctr" indent="0" marL="0">
              <a:buNone/>
            </a:pPr>
            <a:r>
              <a:rPr lang="en-US" sz="1000" dirty="0">
                <a:solidFill>
                  <a:srgbClr val="9A9BA0"/>
                </a:solidFill>
                <a:latin typeface="Courier New" pitchFamily="34" charset="0"/>
                <a:ea typeface="Courier New" pitchFamily="34" charset="-122"/>
                <a:cs typeface="Courier New" pitchFamily="34" charset="-120"/>
              </a:rPr>
              <a:t>Konstantinos Skopas · Koncave Design Studio   ·   github.com/&lt;you&gt;/tape-daw</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 vibecoded an open-source DAW for kids</dc:title>
  <dc:subject>PptxGenJS Presentation</dc:subject>
  <dc:creator>TAPE / PLAYTAPE project</dc:creator>
  <cp:lastModifiedBy>TAPE / PLAYTAPE project</cp:lastModifiedBy>
  <cp:revision>1</cp:revision>
  <dcterms:created xsi:type="dcterms:W3CDTF">2026-07-06T08:11:55Z</dcterms:created>
  <dcterms:modified xsi:type="dcterms:W3CDTF">2026-07-06T08:11:55Z</dcterms:modified>
</cp:coreProperties>
</file>